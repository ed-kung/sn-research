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15"/>
  </p:notesMasterIdLst>
  <p:sldIdLst>
    <p:sldId id="256" r:id="rId2"/>
    <p:sldId id="258" r:id="rId3"/>
    <p:sldId id="257" r:id="rId4"/>
    <p:sldId id="259" r:id="rId5"/>
    <p:sldId id="260" r:id="rId6"/>
    <p:sldId id="261" r:id="rId7"/>
    <p:sldId id="262" r:id="rId8"/>
    <p:sldId id="263" r:id="rId9"/>
    <p:sldId id="265" r:id="rId10"/>
    <p:sldId id="266" r:id="rId11"/>
    <p:sldId id="264"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97"/>
    <p:restoredTop sz="65965"/>
  </p:normalViewPr>
  <p:slideViewPr>
    <p:cSldViewPr snapToGrid="0">
      <p:cViewPr varScale="1">
        <p:scale>
          <a:sx n="76" d="100"/>
          <a:sy n="76" d="100"/>
        </p:scale>
        <p:origin x="208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CEC965-92CC-F343-AAD8-B6509BC28377}" type="datetimeFigureOut">
              <a:rPr lang="en-US" smtClean="0"/>
              <a:t>2/17/26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BE7BC1-9F45-5A4F-89A2-62472E8D9650}" type="slidenum">
              <a:rPr lang="en-US" smtClean="0"/>
              <a:t>‹#›</a:t>
            </a:fld>
            <a:endParaRPr lang="en-US"/>
          </a:p>
        </p:txBody>
      </p:sp>
    </p:spTree>
    <p:extLst>
      <p:ext uri="{BB962C8B-B14F-4D97-AF65-F5344CB8AC3E}">
        <p14:creationId xmlns:p14="http://schemas.microsoft.com/office/powerpoint/2010/main" val="1468175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discourse for matters both mundane and substantive is increasingly mediated through online discussion platforms. \</a:t>
            </a:r>
            <a:r>
              <a:rPr lang="en-US" dirty="0" err="1"/>
              <a:t>citet</a:t>
            </a:r>
            <a:r>
              <a:rPr lang="en-US" dirty="0"/>
              <a:t>{newman2025digitalnews} estimates that usage of social media as a source of news in the U.S. rose from 27\% to 54\% between the years 2013 and 2025, and \</a:t>
            </a:r>
            <a:r>
              <a:rPr lang="en-US" dirty="0" err="1"/>
              <a:t>citet</a:t>
            </a:r>
            <a:r>
              <a:rPr lang="en-US" dirty="0"/>
              <a:t>{mcclain2024pew} shows that the most popular social media platform for political news is the discussion platform X. There is growing recognition that the incentive structures governing these platforms is a crucial factor determining whether conversations proceed in healthy or unhealthy directions \</a:t>
            </a:r>
            <a:r>
              <a:rPr lang="en-US" dirty="0" err="1"/>
              <a:t>citep</a:t>
            </a:r>
            <a:r>
              <a:rPr lang="en-US" dirty="0"/>
              <a:t>{aridor2024}. Concerns about online discourse have become prevalent enough that governments around the world are exploring regulatory frameworks for moderating online content, with the EU's Digital Services Act being a prominent example.</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03BE7BC1-9F45-5A4F-89A2-62472E8D9650}" type="slidenum">
              <a:rPr lang="en-US" smtClean="0"/>
              <a:t>2</a:t>
            </a:fld>
            <a:endParaRPr lang="en-US"/>
          </a:p>
        </p:txBody>
      </p:sp>
    </p:spTree>
    <p:extLst>
      <p:ext uri="{BB962C8B-B14F-4D97-AF65-F5344CB8AC3E}">
        <p14:creationId xmlns:p14="http://schemas.microsoft.com/office/powerpoint/2010/main" val="22372299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online discussion platforms are free to use. Some may charge for premium features, but these features are usually related to removing ads, content management tools, and features for gaining visibility or monetization. Few platforms charge a direct cost to post, and fewer still allow users to pay each other directly for content that they appreciate. Instead, the exchange of value between content creator and content consumer tends to be mediated through indirect mechanisms, such as ad revenue, visibility, and reputation---often referred to as ``clout''---which may indirectly benefit the content creator's endeavors outside the discussion platform proper. The indirect nature of these mechanisms may result in misaligned incentives between content creators and content consumers. For example, content creators may be more incentivized to create content that readers will \</a:t>
            </a:r>
            <a:r>
              <a:rPr lang="en-US" dirty="0" err="1"/>
              <a:t>emph</a:t>
            </a:r>
            <a:r>
              <a:rPr lang="en-US" dirty="0"/>
              <a:t>{click}, rather than content that readers will actually read, digest, and ex-post appreciate the creator for producing.</a:t>
            </a:r>
          </a:p>
        </p:txBody>
      </p:sp>
      <p:sp>
        <p:nvSpPr>
          <p:cNvPr id="4" name="Slide Number Placeholder 3"/>
          <p:cNvSpPr>
            <a:spLocks noGrp="1"/>
          </p:cNvSpPr>
          <p:nvPr>
            <p:ph type="sldNum" sz="quarter" idx="5"/>
          </p:nvPr>
        </p:nvSpPr>
        <p:spPr/>
        <p:txBody>
          <a:bodyPr/>
          <a:lstStyle/>
          <a:p>
            <a:fld id="{03BE7BC1-9F45-5A4F-89A2-62472E8D9650}" type="slidenum">
              <a:rPr lang="en-US" smtClean="0"/>
              <a:t>3</a:t>
            </a:fld>
            <a:endParaRPr lang="en-US"/>
          </a:p>
        </p:txBody>
      </p:sp>
    </p:spTree>
    <p:extLst>
      <p:ext uri="{BB962C8B-B14F-4D97-AF65-F5344CB8AC3E}">
        <p14:creationId xmlns:p14="http://schemas.microsoft.com/office/powerpoint/2010/main" val="4164107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7B79C-EC89-5800-4CC6-92A2476642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5ADDC9-DC98-1182-F82A-97CB16D3F0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7A7BAB-4E3E-25FA-6411-A31199CC2173}"/>
              </a:ext>
            </a:extLst>
          </p:cNvPr>
          <p:cNvSpPr>
            <a:spLocks noGrp="1"/>
          </p:cNvSpPr>
          <p:nvPr>
            <p:ph type="body" idx="1"/>
          </p:nvPr>
        </p:nvSpPr>
        <p:spPr/>
        <p:txBody>
          <a:bodyPr/>
          <a:lstStyle/>
          <a:p>
            <a:r>
              <a:rPr lang="en-US" dirty="0"/>
              <a:t>There are a few reasons why online discussion platforms may not want to charge posting fees or allow users to pay each other. For one, economies of scale and network effects suggest that platforms would want to onboard as many users with as little cost to the user as possible. But another, perhaps less appreciated reason is frictions in the payments infrastructure. The value of any individual post or comment is likely quite small, too small to cover the fixed fees for credit card transactions. Fee-less payments networks like Venmo do exist, but they usually have strict volume limits and charge fees to frequent users. Moreover, most popular discussion platforms, like X and Reddit, are international in scope. Routing payments between international users introduces multiple layers of frictions related to currency exchange and international banking regulations. </a:t>
            </a:r>
          </a:p>
          <a:p>
            <a:endParaRPr lang="en-US" dirty="0"/>
          </a:p>
          <a:p>
            <a:r>
              <a:rPr lang="en-US" dirty="0"/>
              <a:t>Despite this, there is good reason to believe that charging fees for posts and allowing users to pay each other directly could increase the quality of content posted. Signaling theory suggests that posting costs can be an effective deterrent against spam  \</a:t>
            </a:r>
            <a:r>
              <a:rPr lang="en-US" dirty="0" err="1"/>
              <a:t>citep</a:t>
            </a:r>
            <a:r>
              <a:rPr lang="en-US" dirty="0"/>
              <a:t>{joseph2008email}. Empirically, \</a:t>
            </a:r>
            <a:r>
              <a:rPr lang="en-US" dirty="0" err="1"/>
              <a:t>citet</a:t>
            </a:r>
            <a:r>
              <a:rPr lang="en-US" dirty="0"/>
              <a:t>{tchernichovski2019pnas} showed that introducing a small fee to an online rating system filtered out low information signals and led to higher correlation between review ratings and quality. Empirical studies from other social media platforms have also shown that financial incentives in the form of revenue sharing can influence the quantity and quality of content  \</a:t>
            </a:r>
            <a:r>
              <a:rPr lang="en-US" dirty="0" err="1"/>
              <a:t>citep</a:t>
            </a:r>
            <a:r>
              <a:rPr lang="en-US" dirty="0"/>
              <a:t>{sun2013blogs, elkomboz2023youtube, kerkhof2024youtube}, though none of these studies investigated direct peer-to-peer payments and posting costs in online discussion platforms.</a:t>
            </a:r>
          </a:p>
        </p:txBody>
      </p:sp>
      <p:sp>
        <p:nvSpPr>
          <p:cNvPr id="4" name="Slide Number Placeholder 3">
            <a:extLst>
              <a:ext uri="{FF2B5EF4-FFF2-40B4-BE49-F238E27FC236}">
                <a16:creationId xmlns:a16="http://schemas.microsoft.com/office/drawing/2014/main" id="{684D7CFC-A0B2-34A9-C1DA-263EB933BCF6}"/>
              </a:ext>
            </a:extLst>
          </p:cNvPr>
          <p:cNvSpPr>
            <a:spLocks noGrp="1"/>
          </p:cNvSpPr>
          <p:nvPr>
            <p:ph type="sldNum" sz="quarter" idx="5"/>
          </p:nvPr>
        </p:nvSpPr>
        <p:spPr/>
        <p:txBody>
          <a:bodyPr/>
          <a:lstStyle/>
          <a:p>
            <a:fld id="{03BE7BC1-9F45-5A4F-89A2-62472E8D9650}" type="slidenum">
              <a:rPr lang="en-US" smtClean="0"/>
              <a:t>4</a:t>
            </a:fld>
            <a:endParaRPr lang="en-US"/>
          </a:p>
        </p:txBody>
      </p:sp>
    </p:spTree>
    <p:extLst>
      <p:ext uri="{BB962C8B-B14F-4D97-AF65-F5344CB8AC3E}">
        <p14:creationId xmlns:p14="http://schemas.microsoft.com/office/powerpoint/2010/main" val="2983651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0E8CD-EA81-36DF-A2AF-DDE10DEF4E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818AA6-A307-3031-CDA0-BD6446B3CB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F6A854-9683-AE8D-C5A2-F51562652C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86356F-A6FB-67D2-E966-D4F8B797A7F6}"/>
              </a:ext>
            </a:extLst>
          </p:cNvPr>
          <p:cNvSpPr>
            <a:spLocks noGrp="1"/>
          </p:cNvSpPr>
          <p:nvPr>
            <p:ph type="sldNum" sz="quarter" idx="5"/>
          </p:nvPr>
        </p:nvSpPr>
        <p:spPr/>
        <p:txBody>
          <a:bodyPr/>
          <a:lstStyle/>
          <a:p>
            <a:fld id="{03BE7BC1-9F45-5A4F-89A2-62472E8D9650}" type="slidenum">
              <a:rPr lang="en-US" smtClean="0"/>
              <a:t>5</a:t>
            </a:fld>
            <a:endParaRPr lang="en-US"/>
          </a:p>
        </p:txBody>
      </p:sp>
    </p:spTree>
    <p:extLst>
      <p:ext uri="{BB962C8B-B14F-4D97-AF65-F5344CB8AC3E}">
        <p14:creationId xmlns:p14="http://schemas.microsoft.com/office/powerpoint/2010/main" val="2707823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41C4E-368D-4BB0-6131-F322125B6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4232A0-C741-7ED8-D0F6-8CCF6B7300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2DDFDC-3DAF-45FB-F5D0-7F5A33C24B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6873ED-A10D-EA6B-1FD8-2D7503748585}"/>
              </a:ext>
            </a:extLst>
          </p:cNvPr>
          <p:cNvSpPr>
            <a:spLocks noGrp="1"/>
          </p:cNvSpPr>
          <p:nvPr>
            <p:ph type="sldNum" sz="quarter" idx="5"/>
          </p:nvPr>
        </p:nvSpPr>
        <p:spPr/>
        <p:txBody>
          <a:bodyPr/>
          <a:lstStyle/>
          <a:p>
            <a:fld id="{03BE7BC1-9F45-5A4F-89A2-62472E8D9650}" type="slidenum">
              <a:rPr lang="en-US" smtClean="0"/>
              <a:t>6</a:t>
            </a:fld>
            <a:endParaRPr lang="en-US"/>
          </a:p>
        </p:txBody>
      </p:sp>
    </p:spTree>
    <p:extLst>
      <p:ext uri="{BB962C8B-B14F-4D97-AF65-F5344CB8AC3E}">
        <p14:creationId xmlns:p14="http://schemas.microsoft.com/office/powerpoint/2010/main" val="8965920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E01E8-945C-84B9-FA2C-8C495A96CE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C9FD8-E3F7-6804-FA49-F26F488C3B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27645-10E7-0F17-5AFF-3F81D328A1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6A1C30-F2C6-9866-8188-4FB15902CAFE}"/>
              </a:ext>
            </a:extLst>
          </p:cNvPr>
          <p:cNvSpPr>
            <a:spLocks noGrp="1"/>
          </p:cNvSpPr>
          <p:nvPr>
            <p:ph type="sldNum" sz="quarter" idx="5"/>
          </p:nvPr>
        </p:nvSpPr>
        <p:spPr/>
        <p:txBody>
          <a:bodyPr/>
          <a:lstStyle/>
          <a:p>
            <a:fld id="{03BE7BC1-9F45-5A4F-89A2-62472E8D9650}" type="slidenum">
              <a:rPr lang="en-US" smtClean="0"/>
              <a:t>7</a:t>
            </a:fld>
            <a:endParaRPr lang="en-US"/>
          </a:p>
        </p:txBody>
      </p:sp>
    </p:spTree>
    <p:extLst>
      <p:ext uri="{BB962C8B-B14F-4D97-AF65-F5344CB8AC3E}">
        <p14:creationId xmlns:p14="http://schemas.microsoft.com/office/powerpoint/2010/main" val="8947817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63D36-B25B-C3A3-A87D-6AFE8B1926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73E53B-9611-18B7-7C5A-38D20991E3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800D3C-0EB8-9B79-38CE-225EC04BA3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35A871-C88E-CD99-8ACF-E75CA09F6F8E}"/>
              </a:ext>
            </a:extLst>
          </p:cNvPr>
          <p:cNvSpPr>
            <a:spLocks noGrp="1"/>
          </p:cNvSpPr>
          <p:nvPr>
            <p:ph type="sldNum" sz="quarter" idx="5"/>
          </p:nvPr>
        </p:nvSpPr>
        <p:spPr/>
        <p:txBody>
          <a:bodyPr/>
          <a:lstStyle/>
          <a:p>
            <a:fld id="{03BE7BC1-9F45-5A4F-89A2-62472E8D9650}" type="slidenum">
              <a:rPr lang="en-US" smtClean="0"/>
              <a:t>8</a:t>
            </a:fld>
            <a:endParaRPr lang="en-US"/>
          </a:p>
        </p:txBody>
      </p:sp>
    </p:spTree>
    <p:extLst>
      <p:ext uri="{BB962C8B-B14F-4D97-AF65-F5344CB8AC3E}">
        <p14:creationId xmlns:p14="http://schemas.microsoft.com/office/powerpoint/2010/main" val="17771282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D355F-E9BB-0A70-A043-FAAB16F049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FBF538-5EFE-78B8-44B2-4983D6A7E3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3139C9-4B05-313A-779E-02D9447874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D9E076-364F-8C09-4548-7553C2CBFA61}"/>
              </a:ext>
            </a:extLst>
          </p:cNvPr>
          <p:cNvSpPr>
            <a:spLocks noGrp="1"/>
          </p:cNvSpPr>
          <p:nvPr>
            <p:ph type="sldNum" sz="quarter" idx="5"/>
          </p:nvPr>
        </p:nvSpPr>
        <p:spPr/>
        <p:txBody>
          <a:bodyPr/>
          <a:lstStyle/>
          <a:p>
            <a:fld id="{03BE7BC1-9F45-5A4F-89A2-62472E8D9650}" type="slidenum">
              <a:rPr lang="en-US" smtClean="0"/>
              <a:t>9</a:t>
            </a:fld>
            <a:endParaRPr lang="en-US"/>
          </a:p>
        </p:txBody>
      </p:sp>
    </p:spTree>
    <p:extLst>
      <p:ext uri="{BB962C8B-B14F-4D97-AF65-F5344CB8AC3E}">
        <p14:creationId xmlns:p14="http://schemas.microsoft.com/office/powerpoint/2010/main" val="1262881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DD8DF-4A7A-07AA-633D-437110663A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F46EB8-8E50-5FFA-3B73-455C3F6472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BE7588-E11C-0D92-D515-D36803722B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015DAF-D0E4-4A9F-195A-62C474F38418}"/>
              </a:ext>
            </a:extLst>
          </p:cNvPr>
          <p:cNvSpPr>
            <a:spLocks noGrp="1"/>
          </p:cNvSpPr>
          <p:nvPr>
            <p:ph type="sldNum" sz="quarter" idx="5"/>
          </p:nvPr>
        </p:nvSpPr>
        <p:spPr/>
        <p:txBody>
          <a:bodyPr/>
          <a:lstStyle/>
          <a:p>
            <a:fld id="{03BE7BC1-9F45-5A4F-89A2-62472E8D9650}" type="slidenum">
              <a:rPr lang="en-US" smtClean="0"/>
              <a:t>10</a:t>
            </a:fld>
            <a:endParaRPr lang="en-US"/>
          </a:p>
        </p:txBody>
      </p:sp>
    </p:spTree>
    <p:extLst>
      <p:ext uri="{BB962C8B-B14F-4D97-AF65-F5344CB8AC3E}">
        <p14:creationId xmlns:p14="http://schemas.microsoft.com/office/powerpoint/2010/main" val="17240606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C9147-873B-6549-4385-B42B7A9A86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14E43D-6961-EEFC-4EB4-E277ECA040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51DDA7-93D5-3761-7051-CD6381B4A5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CE1A02-55EB-F939-E071-84A5E77EB521}"/>
              </a:ext>
            </a:extLst>
          </p:cNvPr>
          <p:cNvSpPr>
            <a:spLocks noGrp="1"/>
          </p:cNvSpPr>
          <p:nvPr>
            <p:ph type="sldNum" sz="quarter" idx="5"/>
          </p:nvPr>
        </p:nvSpPr>
        <p:spPr/>
        <p:txBody>
          <a:bodyPr/>
          <a:lstStyle/>
          <a:p>
            <a:fld id="{03BE7BC1-9F45-5A4F-89A2-62472E8D9650}" type="slidenum">
              <a:rPr lang="en-US" smtClean="0"/>
              <a:t>11</a:t>
            </a:fld>
            <a:endParaRPr lang="en-US"/>
          </a:p>
        </p:txBody>
      </p:sp>
    </p:spTree>
    <p:extLst>
      <p:ext uri="{BB962C8B-B14F-4D97-AF65-F5344CB8AC3E}">
        <p14:creationId xmlns:p14="http://schemas.microsoft.com/office/powerpoint/2010/main" val="9128204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BF7E8-E362-0FEB-C153-2ED0A9DCCB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6CADE0-2D2D-2FD6-E125-4D853C21B6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8C3149-7132-485A-6231-DBFD4D0CDE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B1199C-52F6-ACC3-3D61-DCB6686839A0}"/>
              </a:ext>
            </a:extLst>
          </p:cNvPr>
          <p:cNvSpPr>
            <a:spLocks noGrp="1"/>
          </p:cNvSpPr>
          <p:nvPr>
            <p:ph type="sldNum" sz="quarter" idx="5"/>
          </p:nvPr>
        </p:nvSpPr>
        <p:spPr/>
        <p:txBody>
          <a:bodyPr/>
          <a:lstStyle/>
          <a:p>
            <a:fld id="{03BE7BC1-9F45-5A4F-89A2-62472E8D9650}" type="slidenum">
              <a:rPr lang="en-US" smtClean="0"/>
              <a:t>12</a:t>
            </a:fld>
            <a:endParaRPr lang="en-US"/>
          </a:p>
        </p:txBody>
      </p:sp>
    </p:spTree>
    <p:extLst>
      <p:ext uri="{BB962C8B-B14F-4D97-AF65-F5344CB8AC3E}">
        <p14:creationId xmlns:p14="http://schemas.microsoft.com/office/powerpoint/2010/main" val="26443863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DB8CC-FED5-5B7C-03CF-07BB3656AD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AF3205-B849-973F-38C9-DECF6CD060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846D22-E9C6-D121-5D0B-E8E0BB8FD6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49753E-A617-1FB0-1E48-3B1D42234E57}"/>
              </a:ext>
            </a:extLst>
          </p:cNvPr>
          <p:cNvSpPr>
            <a:spLocks noGrp="1"/>
          </p:cNvSpPr>
          <p:nvPr>
            <p:ph type="sldNum" sz="quarter" idx="5"/>
          </p:nvPr>
        </p:nvSpPr>
        <p:spPr/>
        <p:txBody>
          <a:bodyPr/>
          <a:lstStyle/>
          <a:p>
            <a:fld id="{03BE7BC1-9F45-5A4F-89A2-62472E8D9650}" type="slidenum">
              <a:rPr lang="en-US" smtClean="0"/>
              <a:t>13</a:t>
            </a:fld>
            <a:endParaRPr lang="en-US"/>
          </a:p>
        </p:txBody>
      </p:sp>
    </p:spTree>
    <p:extLst>
      <p:ext uri="{BB962C8B-B14F-4D97-AF65-F5344CB8AC3E}">
        <p14:creationId xmlns:p14="http://schemas.microsoft.com/office/powerpoint/2010/main" val="2501404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E419C3E-E668-754E-8C9F-EA2B1649DE86}" type="datetimeFigureOut">
              <a:rPr lang="en-US" smtClean="0"/>
              <a:t>2/17/26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D79E22-88FB-0446-9E20-2DF95C78E99D}" type="slidenum">
              <a:rPr lang="en-US" smtClean="0"/>
              <a:t>‹#›</a:t>
            </a:fld>
            <a:endParaRPr lang="en-US"/>
          </a:p>
        </p:txBody>
      </p:sp>
    </p:spTree>
    <p:extLst>
      <p:ext uri="{BB962C8B-B14F-4D97-AF65-F5344CB8AC3E}">
        <p14:creationId xmlns:p14="http://schemas.microsoft.com/office/powerpoint/2010/main" val="1214304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419C3E-E668-754E-8C9F-EA2B1649DE86}" type="datetimeFigureOut">
              <a:rPr lang="en-US" smtClean="0"/>
              <a:t>2/17/26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D79E22-88FB-0446-9E20-2DF95C78E99D}" type="slidenum">
              <a:rPr lang="en-US" smtClean="0"/>
              <a:t>‹#›</a:t>
            </a:fld>
            <a:endParaRPr lang="en-US"/>
          </a:p>
        </p:txBody>
      </p:sp>
    </p:spTree>
    <p:extLst>
      <p:ext uri="{BB962C8B-B14F-4D97-AF65-F5344CB8AC3E}">
        <p14:creationId xmlns:p14="http://schemas.microsoft.com/office/powerpoint/2010/main" val="1944758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419C3E-E668-754E-8C9F-EA2B1649DE86}" type="datetimeFigureOut">
              <a:rPr lang="en-US" smtClean="0"/>
              <a:t>2/17/26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D79E22-88FB-0446-9E20-2DF95C78E99D}" type="slidenum">
              <a:rPr lang="en-US" smtClean="0"/>
              <a:t>‹#›</a:t>
            </a:fld>
            <a:endParaRPr lang="en-US"/>
          </a:p>
        </p:txBody>
      </p:sp>
    </p:spTree>
    <p:extLst>
      <p:ext uri="{BB962C8B-B14F-4D97-AF65-F5344CB8AC3E}">
        <p14:creationId xmlns:p14="http://schemas.microsoft.com/office/powerpoint/2010/main" val="1563956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E419C3E-E668-754E-8C9F-EA2B1649DE86}" type="datetimeFigureOut">
              <a:rPr lang="en-US" smtClean="0"/>
              <a:t>2/17/26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D79E22-88FB-0446-9E20-2DF95C78E99D}" type="slidenum">
              <a:rPr lang="en-US" smtClean="0"/>
              <a:t>‹#›</a:t>
            </a:fld>
            <a:endParaRPr lang="en-US"/>
          </a:p>
        </p:txBody>
      </p:sp>
    </p:spTree>
    <p:extLst>
      <p:ext uri="{BB962C8B-B14F-4D97-AF65-F5344CB8AC3E}">
        <p14:creationId xmlns:p14="http://schemas.microsoft.com/office/powerpoint/2010/main" val="1135069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E419C3E-E668-754E-8C9F-EA2B1649DE86}" type="datetimeFigureOut">
              <a:rPr lang="en-US" smtClean="0"/>
              <a:t>2/17/26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D79E22-88FB-0446-9E20-2DF95C78E99D}" type="slidenum">
              <a:rPr lang="en-US" smtClean="0"/>
              <a:t>‹#›</a:t>
            </a:fld>
            <a:endParaRPr lang="en-US"/>
          </a:p>
        </p:txBody>
      </p:sp>
    </p:spTree>
    <p:extLst>
      <p:ext uri="{BB962C8B-B14F-4D97-AF65-F5344CB8AC3E}">
        <p14:creationId xmlns:p14="http://schemas.microsoft.com/office/powerpoint/2010/main" val="1837257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E419C3E-E668-754E-8C9F-EA2B1649DE86}" type="datetimeFigureOut">
              <a:rPr lang="en-US" smtClean="0"/>
              <a:t>2/17/26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D79E22-88FB-0446-9E20-2DF95C78E99D}" type="slidenum">
              <a:rPr lang="en-US" smtClean="0"/>
              <a:t>‹#›</a:t>
            </a:fld>
            <a:endParaRPr lang="en-US"/>
          </a:p>
        </p:txBody>
      </p:sp>
    </p:spTree>
    <p:extLst>
      <p:ext uri="{BB962C8B-B14F-4D97-AF65-F5344CB8AC3E}">
        <p14:creationId xmlns:p14="http://schemas.microsoft.com/office/powerpoint/2010/main" val="4191853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419C3E-E668-754E-8C9F-EA2B1649DE86}" type="datetimeFigureOut">
              <a:rPr lang="en-US" smtClean="0"/>
              <a:t>2/17/26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D79E22-88FB-0446-9E20-2DF95C78E99D}" type="slidenum">
              <a:rPr lang="en-US" smtClean="0"/>
              <a:t>‹#›</a:t>
            </a:fld>
            <a:endParaRPr lang="en-US"/>
          </a:p>
        </p:txBody>
      </p:sp>
    </p:spTree>
    <p:extLst>
      <p:ext uri="{BB962C8B-B14F-4D97-AF65-F5344CB8AC3E}">
        <p14:creationId xmlns:p14="http://schemas.microsoft.com/office/powerpoint/2010/main" val="487546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419C3E-E668-754E-8C9F-EA2B1649DE86}" type="datetimeFigureOut">
              <a:rPr lang="en-US" smtClean="0"/>
              <a:t>2/17/26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D79E22-88FB-0446-9E20-2DF95C78E99D}" type="slidenum">
              <a:rPr lang="en-US" smtClean="0"/>
              <a:t>‹#›</a:t>
            </a:fld>
            <a:endParaRPr lang="en-US"/>
          </a:p>
        </p:txBody>
      </p:sp>
    </p:spTree>
    <p:extLst>
      <p:ext uri="{BB962C8B-B14F-4D97-AF65-F5344CB8AC3E}">
        <p14:creationId xmlns:p14="http://schemas.microsoft.com/office/powerpoint/2010/main" val="3641113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419C3E-E668-754E-8C9F-EA2B1649DE86}" type="datetimeFigureOut">
              <a:rPr lang="en-US" smtClean="0"/>
              <a:t>2/17/26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D79E22-88FB-0446-9E20-2DF95C78E99D}" type="slidenum">
              <a:rPr lang="en-US" smtClean="0"/>
              <a:t>‹#›</a:t>
            </a:fld>
            <a:endParaRPr lang="en-US"/>
          </a:p>
        </p:txBody>
      </p:sp>
    </p:spTree>
    <p:extLst>
      <p:ext uri="{BB962C8B-B14F-4D97-AF65-F5344CB8AC3E}">
        <p14:creationId xmlns:p14="http://schemas.microsoft.com/office/powerpoint/2010/main" val="1937621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419C3E-E668-754E-8C9F-EA2B1649DE86}" type="datetimeFigureOut">
              <a:rPr lang="en-US" smtClean="0"/>
              <a:t>2/17/26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D79E22-88FB-0446-9E20-2DF95C78E99D}" type="slidenum">
              <a:rPr lang="en-US" smtClean="0"/>
              <a:t>‹#›</a:t>
            </a:fld>
            <a:endParaRPr lang="en-US"/>
          </a:p>
        </p:txBody>
      </p:sp>
    </p:spTree>
    <p:extLst>
      <p:ext uri="{BB962C8B-B14F-4D97-AF65-F5344CB8AC3E}">
        <p14:creationId xmlns:p14="http://schemas.microsoft.com/office/powerpoint/2010/main" val="2431547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419C3E-E668-754E-8C9F-EA2B1649DE86}" type="datetimeFigureOut">
              <a:rPr lang="en-US" smtClean="0"/>
              <a:t>2/17/26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D79E22-88FB-0446-9E20-2DF95C78E99D}" type="slidenum">
              <a:rPr lang="en-US" smtClean="0"/>
              <a:t>‹#›</a:t>
            </a:fld>
            <a:endParaRPr lang="en-US"/>
          </a:p>
        </p:txBody>
      </p:sp>
    </p:spTree>
    <p:extLst>
      <p:ext uri="{BB962C8B-B14F-4D97-AF65-F5344CB8AC3E}">
        <p14:creationId xmlns:p14="http://schemas.microsoft.com/office/powerpoint/2010/main" val="2276463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419C3E-E668-754E-8C9F-EA2B1649DE86}" type="datetimeFigureOut">
              <a:rPr lang="en-US" smtClean="0"/>
              <a:t>2/17/26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DD79E22-88FB-0446-9E20-2DF95C78E99D}" type="slidenum">
              <a:rPr lang="en-US" smtClean="0"/>
              <a:t>‹#›</a:t>
            </a:fld>
            <a:endParaRPr lang="en-US"/>
          </a:p>
        </p:txBody>
      </p:sp>
    </p:spTree>
    <p:extLst>
      <p:ext uri="{BB962C8B-B14F-4D97-AF65-F5344CB8AC3E}">
        <p14:creationId xmlns:p14="http://schemas.microsoft.com/office/powerpoint/2010/main" val="254642996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557AA-5A7F-84E6-06BF-507FDF04A4D9}"/>
              </a:ext>
            </a:extLst>
          </p:cNvPr>
          <p:cNvSpPr>
            <a:spLocks noGrp="1"/>
          </p:cNvSpPr>
          <p:nvPr>
            <p:ph type="ctrTitle"/>
          </p:nvPr>
        </p:nvSpPr>
        <p:spPr>
          <a:xfrm>
            <a:off x="3725333" y="756356"/>
            <a:ext cx="7902222" cy="3456558"/>
          </a:xfrm>
        </p:spPr>
        <p:txBody>
          <a:bodyPr>
            <a:normAutofit fontScale="90000"/>
          </a:bodyPr>
          <a:lstStyle/>
          <a:p>
            <a:r>
              <a:rPr lang="en-US" dirty="0"/>
              <a:t>Financial micro-incentives and internet discourse: Evidence from a Bitcoin-based discussion platform</a:t>
            </a:r>
          </a:p>
        </p:txBody>
      </p:sp>
      <p:sp>
        <p:nvSpPr>
          <p:cNvPr id="3" name="Subtitle 2">
            <a:extLst>
              <a:ext uri="{FF2B5EF4-FFF2-40B4-BE49-F238E27FC236}">
                <a16:creationId xmlns:a16="http://schemas.microsoft.com/office/drawing/2014/main" id="{90943E6D-E7D2-4B98-693C-20A60DD33AFA}"/>
              </a:ext>
            </a:extLst>
          </p:cNvPr>
          <p:cNvSpPr>
            <a:spLocks noGrp="1"/>
          </p:cNvSpPr>
          <p:nvPr>
            <p:ph type="subTitle" idx="1"/>
          </p:nvPr>
        </p:nvSpPr>
        <p:spPr>
          <a:xfrm>
            <a:off x="4143022" y="4707077"/>
            <a:ext cx="7066844" cy="900953"/>
          </a:xfrm>
        </p:spPr>
        <p:txBody>
          <a:bodyPr/>
          <a:lstStyle/>
          <a:p>
            <a:r>
              <a:rPr lang="en-US" dirty="0"/>
              <a:t>Edward Kung and Keyan Kousha</a:t>
            </a:r>
          </a:p>
          <a:p>
            <a:r>
              <a:rPr lang="en-US" dirty="0"/>
              <a:t>February 25, 2026</a:t>
            </a:r>
          </a:p>
        </p:txBody>
      </p:sp>
      <p:pic>
        <p:nvPicPr>
          <p:cNvPr id="5" name="Graphic 4">
            <a:extLst>
              <a:ext uri="{FF2B5EF4-FFF2-40B4-BE49-F238E27FC236}">
                <a16:creationId xmlns:a16="http://schemas.microsoft.com/office/drawing/2014/main" id="{D2AF5912-FC46-92F7-2FA6-7568F5FAB1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6754" y="521838"/>
            <a:ext cx="4851674" cy="4851674"/>
          </a:xfrm>
          <a:prstGeom prst="rect">
            <a:avLst/>
          </a:prstGeom>
        </p:spPr>
      </p:pic>
    </p:spTree>
    <p:extLst>
      <p:ext uri="{BB962C8B-B14F-4D97-AF65-F5344CB8AC3E}">
        <p14:creationId xmlns:p14="http://schemas.microsoft.com/office/powerpoint/2010/main" val="1279918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121C1-1D9E-ED0B-1C63-5A073C5E80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A1D8DD-0032-CAC0-9D79-4982753A2B53}"/>
              </a:ext>
            </a:extLst>
          </p:cNvPr>
          <p:cNvSpPr>
            <a:spLocks noGrp="1"/>
          </p:cNvSpPr>
          <p:nvPr>
            <p:ph type="title"/>
          </p:nvPr>
        </p:nvSpPr>
        <p:spPr/>
        <p:txBody>
          <a:bodyPr/>
          <a:lstStyle/>
          <a:p>
            <a:r>
              <a:rPr lang="en-US" dirty="0"/>
              <a:t>Background &amp; Motivation</a:t>
            </a:r>
          </a:p>
        </p:txBody>
      </p:sp>
      <p:sp>
        <p:nvSpPr>
          <p:cNvPr id="3" name="Content Placeholder 2">
            <a:extLst>
              <a:ext uri="{FF2B5EF4-FFF2-40B4-BE49-F238E27FC236}">
                <a16:creationId xmlns:a16="http://schemas.microsoft.com/office/drawing/2014/main" id="{3697B8BA-2EA7-D0C3-C3AF-F5023F726FBF}"/>
              </a:ext>
            </a:extLst>
          </p:cNvPr>
          <p:cNvSpPr>
            <a:spLocks noGrp="1"/>
          </p:cNvSpPr>
          <p:nvPr>
            <p:ph idx="1"/>
          </p:nvPr>
        </p:nvSpPr>
        <p:spPr/>
        <p:txBody>
          <a:bodyPr/>
          <a:lstStyle/>
          <a:p>
            <a:r>
              <a:rPr lang="en-US" dirty="0"/>
              <a:t>Public discourse increasingly takes place online</a:t>
            </a:r>
          </a:p>
          <a:p>
            <a:endParaRPr lang="en-US" dirty="0"/>
          </a:p>
          <a:p>
            <a:r>
              <a:rPr lang="en-US" dirty="0"/>
              <a:t>Newman et al. (2025) estimates 54% of Americans use social media as a news source</a:t>
            </a:r>
          </a:p>
          <a:p>
            <a:endParaRPr lang="en-US" dirty="0"/>
          </a:p>
          <a:p>
            <a:r>
              <a:rPr lang="en-US" dirty="0"/>
              <a:t>Growing recognition of the importance of incentive structures built into platforms (</a:t>
            </a:r>
            <a:r>
              <a:rPr lang="en-US" dirty="0" err="1"/>
              <a:t>Arridor</a:t>
            </a:r>
            <a:r>
              <a:rPr lang="en-US" dirty="0"/>
              <a:t> et al., 2024)</a:t>
            </a:r>
          </a:p>
          <a:p>
            <a:endParaRPr lang="en-US" dirty="0"/>
          </a:p>
        </p:txBody>
      </p:sp>
    </p:spTree>
    <p:extLst>
      <p:ext uri="{BB962C8B-B14F-4D97-AF65-F5344CB8AC3E}">
        <p14:creationId xmlns:p14="http://schemas.microsoft.com/office/powerpoint/2010/main" val="54966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86C2E-6259-ED5C-3FA1-ADCAFEA73DDF}"/>
              </a:ext>
            </a:extLst>
          </p:cNvPr>
          <p:cNvSpPr>
            <a:spLocks noGrp="1"/>
          </p:cNvSpPr>
          <p:nvPr>
            <p:ph type="title"/>
          </p:nvPr>
        </p:nvSpPr>
        <p:spPr/>
        <p:txBody>
          <a:bodyPr/>
          <a:lstStyle/>
          <a:p>
            <a:r>
              <a:rPr lang="en-US" dirty="0"/>
              <a:t>Background &amp; Motivation</a:t>
            </a:r>
          </a:p>
        </p:txBody>
      </p:sp>
      <p:sp>
        <p:nvSpPr>
          <p:cNvPr id="3" name="Content Placeholder 2">
            <a:extLst>
              <a:ext uri="{FF2B5EF4-FFF2-40B4-BE49-F238E27FC236}">
                <a16:creationId xmlns:a16="http://schemas.microsoft.com/office/drawing/2014/main" id="{EAFBCDAF-034C-8152-A81C-98D7E282A818}"/>
              </a:ext>
            </a:extLst>
          </p:cNvPr>
          <p:cNvSpPr>
            <a:spLocks noGrp="1"/>
          </p:cNvSpPr>
          <p:nvPr>
            <p:ph idx="1"/>
          </p:nvPr>
        </p:nvSpPr>
        <p:spPr/>
        <p:txBody>
          <a:bodyPr/>
          <a:lstStyle/>
          <a:p>
            <a:r>
              <a:rPr lang="en-US" dirty="0"/>
              <a:t>Most online discussion platforms are free to use</a:t>
            </a:r>
          </a:p>
          <a:p>
            <a:endParaRPr lang="en-US" dirty="0"/>
          </a:p>
          <a:p>
            <a:r>
              <a:rPr lang="en-US" dirty="0"/>
              <a:t>Exchange of value between content creator and content consumer happens indirectly</a:t>
            </a:r>
          </a:p>
          <a:p>
            <a:endParaRPr lang="en-US" dirty="0"/>
          </a:p>
          <a:p>
            <a:r>
              <a:rPr lang="en-US" dirty="0"/>
              <a:t>Potentially leads to misaligned incentives (e.g. optimizing for clicks rather than genuine ex-post appreciation for the content)</a:t>
            </a:r>
          </a:p>
          <a:p>
            <a:endParaRPr lang="en-US" dirty="0"/>
          </a:p>
        </p:txBody>
      </p:sp>
    </p:spTree>
    <p:extLst>
      <p:ext uri="{BB962C8B-B14F-4D97-AF65-F5344CB8AC3E}">
        <p14:creationId xmlns:p14="http://schemas.microsoft.com/office/powerpoint/2010/main" val="4014670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807A2-A86E-0C79-35DD-C13903CC65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DE736C-A290-6AB9-41DF-72BB9CB7499E}"/>
              </a:ext>
            </a:extLst>
          </p:cNvPr>
          <p:cNvSpPr>
            <a:spLocks noGrp="1"/>
          </p:cNvSpPr>
          <p:nvPr>
            <p:ph type="title"/>
          </p:nvPr>
        </p:nvSpPr>
        <p:spPr/>
        <p:txBody>
          <a:bodyPr/>
          <a:lstStyle/>
          <a:p>
            <a:r>
              <a:rPr lang="en-US" dirty="0"/>
              <a:t>Background &amp; Motivation</a:t>
            </a:r>
          </a:p>
        </p:txBody>
      </p:sp>
      <p:sp>
        <p:nvSpPr>
          <p:cNvPr id="3" name="Content Placeholder 2">
            <a:extLst>
              <a:ext uri="{FF2B5EF4-FFF2-40B4-BE49-F238E27FC236}">
                <a16:creationId xmlns:a16="http://schemas.microsoft.com/office/drawing/2014/main" id="{78B3A899-5013-1373-CE41-A8D41F60AF88}"/>
              </a:ext>
            </a:extLst>
          </p:cNvPr>
          <p:cNvSpPr>
            <a:spLocks noGrp="1"/>
          </p:cNvSpPr>
          <p:nvPr>
            <p:ph idx="1"/>
          </p:nvPr>
        </p:nvSpPr>
        <p:spPr>
          <a:xfrm>
            <a:off x="838200" y="1690688"/>
            <a:ext cx="10515600" cy="4486275"/>
          </a:xfrm>
        </p:spPr>
        <p:txBody>
          <a:bodyPr>
            <a:normAutofit fontScale="92500" lnSpcReduction="20000"/>
          </a:bodyPr>
          <a:lstStyle/>
          <a:p>
            <a:r>
              <a:rPr lang="en-US" dirty="0"/>
              <a:t>This paper:  </a:t>
            </a:r>
            <a:r>
              <a:rPr lang="en-US" b="1" dirty="0"/>
              <a:t>Does charging a fee to post and letting users directly pay each other for content improve post quality?</a:t>
            </a:r>
          </a:p>
          <a:p>
            <a:endParaRPr lang="en-US" dirty="0"/>
          </a:p>
          <a:p>
            <a:r>
              <a:rPr lang="en-US" dirty="0"/>
              <a:t>Signaling theory suggests pay-to-post could increase quality (Joseph and </a:t>
            </a:r>
            <a:r>
              <a:rPr lang="en-US" dirty="0" err="1"/>
              <a:t>Thevaranjan</a:t>
            </a:r>
            <a:r>
              <a:rPr lang="en-US" dirty="0"/>
              <a:t>, 2008; </a:t>
            </a:r>
            <a:r>
              <a:rPr lang="en-US" dirty="0" err="1"/>
              <a:t>Tchernichovski</a:t>
            </a:r>
            <a:r>
              <a:rPr lang="en-US" dirty="0"/>
              <a:t> et al. 2019)</a:t>
            </a:r>
          </a:p>
          <a:p>
            <a:endParaRPr lang="en-US" dirty="0"/>
          </a:p>
          <a:p>
            <a:r>
              <a:rPr lang="en-US" dirty="0"/>
              <a:t>Empirical studies of other social media platforms showed that financial incentives affect content quality</a:t>
            </a:r>
            <a:r>
              <a:rPr lang="en-US" dirty="0">
                <a:sym typeface="Wingdings" pitchFamily="2" charset="2"/>
              </a:rPr>
              <a:t> and quantity (Sun and Zhu, 2013; El-</a:t>
            </a:r>
            <a:r>
              <a:rPr lang="en-US" dirty="0" err="1">
                <a:sym typeface="Wingdings" pitchFamily="2" charset="2"/>
              </a:rPr>
              <a:t>Komboz</a:t>
            </a:r>
            <a:r>
              <a:rPr lang="en-US" dirty="0">
                <a:sym typeface="Wingdings" pitchFamily="2" charset="2"/>
              </a:rPr>
              <a:t> et al. 2023; Kerkhof, 2024)</a:t>
            </a:r>
          </a:p>
          <a:p>
            <a:endParaRPr lang="en-US" dirty="0">
              <a:sym typeface="Wingdings" pitchFamily="2" charset="2"/>
            </a:endParaRPr>
          </a:p>
          <a:p>
            <a:r>
              <a:rPr lang="en-US" dirty="0">
                <a:sym typeface="Wingdings" pitchFamily="2" charset="2"/>
              </a:rPr>
              <a:t>To our knowledge, no one has studied direct financial incentives on a discussion platform in which users can directly tip each other</a:t>
            </a:r>
            <a:endParaRPr lang="en-US" dirty="0"/>
          </a:p>
          <a:p>
            <a:endParaRPr lang="en-US" dirty="0"/>
          </a:p>
          <a:p>
            <a:endParaRPr lang="en-US" dirty="0"/>
          </a:p>
        </p:txBody>
      </p:sp>
    </p:spTree>
    <p:extLst>
      <p:ext uri="{BB962C8B-B14F-4D97-AF65-F5344CB8AC3E}">
        <p14:creationId xmlns:p14="http://schemas.microsoft.com/office/powerpoint/2010/main" val="2028948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71702-0CDF-1EEB-4029-1EEDAA6ED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2CC8E2-E3C6-2D7E-EDD5-2973E54B4043}"/>
              </a:ext>
            </a:extLst>
          </p:cNvPr>
          <p:cNvSpPr>
            <a:spLocks noGrp="1"/>
          </p:cNvSpPr>
          <p:nvPr>
            <p:ph type="title"/>
          </p:nvPr>
        </p:nvSpPr>
        <p:spPr>
          <a:xfrm>
            <a:off x="702734" y="164570"/>
            <a:ext cx="10515600" cy="1325563"/>
          </a:xfrm>
        </p:spPr>
        <p:txBody>
          <a:bodyPr/>
          <a:lstStyle/>
          <a:p>
            <a:r>
              <a:rPr lang="en-US" dirty="0"/>
              <a:t>Stacker News</a:t>
            </a:r>
          </a:p>
        </p:txBody>
      </p:sp>
      <p:sp>
        <p:nvSpPr>
          <p:cNvPr id="3" name="Content Placeholder 2">
            <a:extLst>
              <a:ext uri="{FF2B5EF4-FFF2-40B4-BE49-F238E27FC236}">
                <a16:creationId xmlns:a16="http://schemas.microsoft.com/office/drawing/2014/main" id="{89FA34AA-01A6-F8B0-D104-980BCF7ADFA8}"/>
              </a:ext>
            </a:extLst>
          </p:cNvPr>
          <p:cNvSpPr>
            <a:spLocks noGrp="1"/>
          </p:cNvSpPr>
          <p:nvPr>
            <p:ph idx="1"/>
          </p:nvPr>
        </p:nvSpPr>
        <p:spPr>
          <a:xfrm>
            <a:off x="838200" y="1490133"/>
            <a:ext cx="10515600" cy="4686830"/>
          </a:xfrm>
        </p:spPr>
        <p:txBody>
          <a:bodyPr>
            <a:normAutofit fontScale="92500" lnSpcReduction="10000"/>
          </a:bodyPr>
          <a:lstStyle/>
          <a:p>
            <a:r>
              <a:rPr lang="en-US" dirty="0"/>
              <a:t>Stacker News is an online discussion platform like Reddit where users must pay to post, and users can tip each other Bitcoin for posts they like (called zaps)</a:t>
            </a:r>
          </a:p>
          <a:p>
            <a:pPr marL="0" indent="0">
              <a:buNone/>
            </a:pPr>
            <a:endParaRPr lang="en-US" dirty="0"/>
          </a:p>
          <a:p>
            <a:r>
              <a:rPr lang="en-US" dirty="0"/>
              <a:t>Typical posting cost is 1-100 sats (about 0.1 to 10 cents)</a:t>
            </a:r>
          </a:p>
          <a:p>
            <a:endParaRPr lang="en-US" dirty="0"/>
          </a:p>
          <a:p>
            <a:r>
              <a:rPr lang="en-US" dirty="0"/>
              <a:t>Typical zap amount is also 1-100 sats, though sometimes it can range into the thousands</a:t>
            </a:r>
          </a:p>
          <a:p>
            <a:endParaRPr lang="en-US" dirty="0"/>
          </a:p>
          <a:p>
            <a:r>
              <a:rPr lang="en-US" dirty="0"/>
              <a:t>The micropayments are enabled by a technology called the Lightning Network, which enables instantaneous, global, peer-to-peer micropayments built on top of the Bitcoin base network</a:t>
            </a:r>
          </a:p>
          <a:p>
            <a:endParaRPr lang="en-US" dirty="0"/>
          </a:p>
        </p:txBody>
      </p:sp>
    </p:spTree>
    <p:extLst>
      <p:ext uri="{BB962C8B-B14F-4D97-AF65-F5344CB8AC3E}">
        <p14:creationId xmlns:p14="http://schemas.microsoft.com/office/powerpoint/2010/main" val="209250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3038F-F54D-FA78-274A-E845C52C9F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78F8AC-162D-3FDC-023D-7A36A2631CD3}"/>
              </a:ext>
            </a:extLst>
          </p:cNvPr>
          <p:cNvSpPr>
            <a:spLocks noGrp="1"/>
          </p:cNvSpPr>
          <p:nvPr>
            <p:ph type="title"/>
          </p:nvPr>
        </p:nvSpPr>
        <p:spPr>
          <a:xfrm>
            <a:off x="702734" y="164570"/>
            <a:ext cx="10515600" cy="1325563"/>
          </a:xfrm>
        </p:spPr>
        <p:txBody>
          <a:bodyPr/>
          <a:lstStyle/>
          <a:p>
            <a:r>
              <a:rPr lang="en-US" dirty="0"/>
              <a:t>Stacker News: Territories</a:t>
            </a:r>
          </a:p>
        </p:txBody>
      </p:sp>
      <p:sp>
        <p:nvSpPr>
          <p:cNvPr id="3" name="Content Placeholder 2">
            <a:extLst>
              <a:ext uri="{FF2B5EF4-FFF2-40B4-BE49-F238E27FC236}">
                <a16:creationId xmlns:a16="http://schemas.microsoft.com/office/drawing/2014/main" id="{1FC6B3B9-CE7D-6C14-3AFE-9BBB7C5421B0}"/>
              </a:ext>
            </a:extLst>
          </p:cNvPr>
          <p:cNvSpPr>
            <a:spLocks noGrp="1"/>
          </p:cNvSpPr>
          <p:nvPr>
            <p:ph idx="1"/>
          </p:nvPr>
        </p:nvSpPr>
        <p:spPr>
          <a:xfrm>
            <a:off x="838200" y="1490133"/>
            <a:ext cx="10515600" cy="4686830"/>
          </a:xfrm>
        </p:spPr>
        <p:txBody>
          <a:bodyPr>
            <a:normAutofit/>
          </a:bodyPr>
          <a:lstStyle/>
          <a:p>
            <a:r>
              <a:rPr lang="en-US" dirty="0"/>
              <a:t>SN is organized into a number of topic-specific subforums called “territories” (think subreddits)</a:t>
            </a:r>
          </a:p>
          <a:p>
            <a:endParaRPr lang="en-US" dirty="0"/>
          </a:p>
          <a:p>
            <a:r>
              <a:rPr lang="en-US" dirty="0"/>
              <a:t>Examples of territories: ~bitcoin, ~econ, ~AI, ~</a:t>
            </a:r>
            <a:r>
              <a:rPr lang="en-US" dirty="0" err="1"/>
              <a:t>Politics_And_Law</a:t>
            </a:r>
            <a:r>
              <a:rPr lang="en-US" dirty="0"/>
              <a:t>, ~</a:t>
            </a:r>
            <a:r>
              <a:rPr lang="en-US" dirty="0" err="1"/>
              <a:t>BooksAndArticles</a:t>
            </a:r>
            <a:endParaRPr lang="en-US" dirty="0"/>
          </a:p>
          <a:p>
            <a:endParaRPr lang="en-US" dirty="0"/>
          </a:p>
          <a:p>
            <a:r>
              <a:rPr lang="en-US" dirty="0"/>
              <a:t>Territories are operated by users.  Users create and maintain territories by paying a monthly fee to SN for the rights to operate that territory (50,000 sats/month)</a:t>
            </a:r>
          </a:p>
        </p:txBody>
      </p:sp>
    </p:spTree>
    <p:extLst>
      <p:ext uri="{BB962C8B-B14F-4D97-AF65-F5344CB8AC3E}">
        <p14:creationId xmlns:p14="http://schemas.microsoft.com/office/powerpoint/2010/main" val="816053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C1B56-1344-AD34-A433-23EAB4C828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9CCA85-D312-0A9F-1C56-6FAED918116C}"/>
              </a:ext>
            </a:extLst>
          </p:cNvPr>
          <p:cNvSpPr>
            <a:spLocks noGrp="1"/>
          </p:cNvSpPr>
          <p:nvPr>
            <p:ph type="title"/>
          </p:nvPr>
        </p:nvSpPr>
        <p:spPr>
          <a:xfrm>
            <a:off x="702734" y="164570"/>
            <a:ext cx="10515600" cy="1325563"/>
          </a:xfrm>
        </p:spPr>
        <p:txBody>
          <a:bodyPr/>
          <a:lstStyle/>
          <a:p>
            <a:r>
              <a:rPr lang="en-US" dirty="0"/>
              <a:t>Stacker News: Pay to Post</a:t>
            </a:r>
          </a:p>
        </p:txBody>
      </p:sp>
      <p:sp>
        <p:nvSpPr>
          <p:cNvPr id="3" name="Content Placeholder 2">
            <a:extLst>
              <a:ext uri="{FF2B5EF4-FFF2-40B4-BE49-F238E27FC236}">
                <a16:creationId xmlns:a16="http://schemas.microsoft.com/office/drawing/2014/main" id="{8C860B30-050C-BC41-6607-A02DD0E5BE96}"/>
              </a:ext>
            </a:extLst>
          </p:cNvPr>
          <p:cNvSpPr>
            <a:spLocks noGrp="1"/>
          </p:cNvSpPr>
          <p:nvPr>
            <p:ph idx="1"/>
          </p:nvPr>
        </p:nvSpPr>
        <p:spPr>
          <a:xfrm>
            <a:off x="838200" y="1490133"/>
            <a:ext cx="10515600" cy="4686830"/>
          </a:xfrm>
        </p:spPr>
        <p:txBody>
          <a:bodyPr>
            <a:normAutofit/>
          </a:bodyPr>
          <a:lstStyle/>
          <a:p>
            <a:r>
              <a:rPr lang="en-US" dirty="0"/>
              <a:t>Each territory charges a different fee to post in that territory</a:t>
            </a:r>
          </a:p>
          <a:p>
            <a:endParaRPr lang="en-US" dirty="0"/>
          </a:p>
          <a:p>
            <a:r>
              <a:rPr lang="en-US" dirty="0"/>
              <a:t>The territory fee is set by the operator of that territory</a:t>
            </a:r>
          </a:p>
          <a:p>
            <a:endParaRPr lang="en-US" dirty="0"/>
          </a:p>
          <a:p>
            <a:r>
              <a:rPr lang="en-US" dirty="0"/>
              <a:t>When a user makes a post in a territory, 70% of the fee goes to the territory owner; 30% goes to a daily rewards pool</a:t>
            </a:r>
          </a:p>
          <a:p>
            <a:endParaRPr lang="en-US" dirty="0"/>
          </a:p>
          <a:p>
            <a:r>
              <a:rPr lang="en-US" dirty="0"/>
              <a:t>Territory owners must choose a posting fee to optimize between quantity and quality of posts, revenue generated, and engagement</a:t>
            </a:r>
          </a:p>
        </p:txBody>
      </p:sp>
    </p:spTree>
    <p:extLst>
      <p:ext uri="{BB962C8B-B14F-4D97-AF65-F5344CB8AC3E}">
        <p14:creationId xmlns:p14="http://schemas.microsoft.com/office/powerpoint/2010/main" val="1503403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1D78E-830A-E81D-8E99-F9EB65906E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8C6E79-4D56-E48F-7A11-7268354A6477}"/>
              </a:ext>
            </a:extLst>
          </p:cNvPr>
          <p:cNvSpPr>
            <a:spLocks noGrp="1"/>
          </p:cNvSpPr>
          <p:nvPr>
            <p:ph type="title"/>
          </p:nvPr>
        </p:nvSpPr>
        <p:spPr>
          <a:xfrm>
            <a:off x="702734" y="164570"/>
            <a:ext cx="10515600" cy="1325563"/>
          </a:xfrm>
        </p:spPr>
        <p:txBody>
          <a:bodyPr/>
          <a:lstStyle/>
          <a:p>
            <a:r>
              <a:rPr lang="en-US" dirty="0"/>
              <a:t>Stacker News: Value for Value</a:t>
            </a:r>
          </a:p>
        </p:txBody>
      </p:sp>
      <p:sp>
        <p:nvSpPr>
          <p:cNvPr id="3" name="Content Placeholder 2">
            <a:extLst>
              <a:ext uri="{FF2B5EF4-FFF2-40B4-BE49-F238E27FC236}">
                <a16:creationId xmlns:a16="http://schemas.microsoft.com/office/drawing/2014/main" id="{48B1E1D5-E8B0-6764-08FE-518D28FC3F3D}"/>
              </a:ext>
            </a:extLst>
          </p:cNvPr>
          <p:cNvSpPr>
            <a:spLocks noGrp="1"/>
          </p:cNvSpPr>
          <p:nvPr>
            <p:ph idx="1"/>
          </p:nvPr>
        </p:nvSpPr>
        <p:spPr>
          <a:xfrm>
            <a:off x="838200" y="1540933"/>
            <a:ext cx="10515600" cy="4686830"/>
          </a:xfrm>
        </p:spPr>
        <p:txBody>
          <a:bodyPr>
            <a:normAutofit fontScale="85000" lnSpcReduction="10000"/>
          </a:bodyPr>
          <a:lstStyle/>
          <a:p>
            <a:r>
              <a:rPr lang="en-US" dirty="0"/>
              <a:t>SN allows users to zap (tip) each other for content that they enjoy</a:t>
            </a:r>
          </a:p>
          <a:p>
            <a:endParaRPr lang="en-US" dirty="0"/>
          </a:p>
          <a:p>
            <a:r>
              <a:rPr lang="en-US" dirty="0"/>
              <a:t>Think of a zap as an upvote in Reddit, except that it costs real money (sats).</a:t>
            </a:r>
          </a:p>
          <a:p>
            <a:endParaRPr lang="en-US" dirty="0"/>
          </a:p>
          <a:p>
            <a:r>
              <a:rPr lang="en-US" dirty="0"/>
              <a:t>Zaps are sent peer-to-peer over the Lightning Network</a:t>
            </a:r>
          </a:p>
          <a:p>
            <a:endParaRPr lang="en-US" dirty="0"/>
          </a:p>
          <a:p>
            <a:r>
              <a:rPr lang="en-US" dirty="0"/>
              <a:t>When a user zaps another user, a 30% “tax” on the zap is imposed.  21% goes to the territory owner and 9% goes to rewards pool.  (This is a form of sybil resistance)</a:t>
            </a:r>
          </a:p>
          <a:p>
            <a:endParaRPr lang="en-US" dirty="0"/>
          </a:p>
          <a:p>
            <a:r>
              <a:rPr lang="en-US" dirty="0"/>
              <a:t>The amount of zaps a post receives affects its sort order in SN’s default list view</a:t>
            </a:r>
          </a:p>
        </p:txBody>
      </p:sp>
    </p:spTree>
    <p:extLst>
      <p:ext uri="{BB962C8B-B14F-4D97-AF65-F5344CB8AC3E}">
        <p14:creationId xmlns:p14="http://schemas.microsoft.com/office/powerpoint/2010/main" val="1395901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1A9CE-985C-C26C-7317-9F5A96EC2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20DCC7-7CE6-00F6-FA4B-7D72F8CEA279}"/>
              </a:ext>
            </a:extLst>
          </p:cNvPr>
          <p:cNvSpPr>
            <a:spLocks noGrp="1"/>
          </p:cNvSpPr>
          <p:nvPr>
            <p:ph type="title"/>
          </p:nvPr>
        </p:nvSpPr>
        <p:spPr>
          <a:xfrm>
            <a:off x="702734" y="164570"/>
            <a:ext cx="10515600" cy="1325563"/>
          </a:xfrm>
        </p:spPr>
        <p:txBody>
          <a:bodyPr/>
          <a:lstStyle/>
          <a:p>
            <a:r>
              <a:rPr lang="en-US" dirty="0"/>
              <a:t>Stacker News: Incentives to Zap</a:t>
            </a:r>
          </a:p>
        </p:txBody>
      </p:sp>
      <p:sp>
        <p:nvSpPr>
          <p:cNvPr id="3" name="Content Placeholder 2">
            <a:extLst>
              <a:ext uri="{FF2B5EF4-FFF2-40B4-BE49-F238E27FC236}">
                <a16:creationId xmlns:a16="http://schemas.microsoft.com/office/drawing/2014/main" id="{8B298A4A-326D-8A20-FCFB-D520AA3EDADD}"/>
              </a:ext>
            </a:extLst>
          </p:cNvPr>
          <p:cNvSpPr>
            <a:spLocks noGrp="1"/>
          </p:cNvSpPr>
          <p:nvPr>
            <p:ph idx="1"/>
          </p:nvPr>
        </p:nvSpPr>
        <p:spPr>
          <a:xfrm>
            <a:off x="838200" y="1540933"/>
            <a:ext cx="10515600" cy="4686830"/>
          </a:xfrm>
        </p:spPr>
        <p:txBody>
          <a:bodyPr>
            <a:normAutofit lnSpcReduction="10000"/>
          </a:bodyPr>
          <a:lstStyle/>
          <a:p>
            <a:r>
              <a:rPr lang="en-US" dirty="0"/>
              <a:t>The literature on tipping suggests that it is motivated by altruistic “warm glow” effects (Andreoni, 1990; Crumpler and Grossman, 2008; Azar, 2020)</a:t>
            </a:r>
          </a:p>
          <a:p>
            <a:pPr marL="0" indent="0">
              <a:buNone/>
            </a:pPr>
            <a:endParaRPr lang="en-US" dirty="0"/>
          </a:p>
          <a:p>
            <a:r>
              <a:rPr lang="en-US" dirty="0"/>
              <a:t>SN zaps are not completely similar to traditional tipping though, because interactions are repeated and there is no base compensation</a:t>
            </a:r>
          </a:p>
          <a:p>
            <a:endParaRPr lang="en-US" dirty="0"/>
          </a:p>
          <a:p>
            <a:r>
              <a:rPr lang="en-US" dirty="0"/>
              <a:t>Zaps may be closer to “pay-what-you-want” systems, where users voluntarily pay to prevent producers from switching to a more disadvantageous regime</a:t>
            </a:r>
          </a:p>
        </p:txBody>
      </p:sp>
    </p:spTree>
    <p:extLst>
      <p:ext uri="{BB962C8B-B14F-4D97-AF65-F5344CB8AC3E}">
        <p14:creationId xmlns:p14="http://schemas.microsoft.com/office/powerpoint/2010/main" val="3541399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56AD4-C22D-36B1-3213-72ECDC4B4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7B2E8-89EB-A06F-A47B-F2AF64EB6A23}"/>
              </a:ext>
            </a:extLst>
          </p:cNvPr>
          <p:cNvSpPr>
            <a:spLocks noGrp="1"/>
          </p:cNvSpPr>
          <p:nvPr>
            <p:ph type="title"/>
          </p:nvPr>
        </p:nvSpPr>
        <p:spPr>
          <a:xfrm>
            <a:off x="702734" y="164570"/>
            <a:ext cx="10515600" cy="1325563"/>
          </a:xfrm>
        </p:spPr>
        <p:txBody>
          <a:bodyPr/>
          <a:lstStyle/>
          <a:p>
            <a:r>
              <a:rPr lang="en-US" dirty="0"/>
              <a:t>Stacker News: Incentives to Zap</a:t>
            </a:r>
          </a:p>
        </p:txBody>
      </p:sp>
      <p:sp>
        <p:nvSpPr>
          <p:cNvPr id="3" name="Content Placeholder 2">
            <a:extLst>
              <a:ext uri="{FF2B5EF4-FFF2-40B4-BE49-F238E27FC236}">
                <a16:creationId xmlns:a16="http://schemas.microsoft.com/office/drawing/2014/main" id="{B1266F95-94C6-A07B-7B80-806702F3CCDD}"/>
              </a:ext>
            </a:extLst>
          </p:cNvPr>
          <p:cNvSpPr>
            <a:spLocks noGrp="1"/>
          </p:cNvSpPr>
          <p:nvPr>
            <p:ph idx="1"/>
          </p:nvPr>
        </p:nvSpPr>
        <p:spPr>
          <a:xfrm>
            <a:off x="838200" y="1659466"/>
            <a:ext cx="10515600" cy="4686830"/>
          </a:xfrm>
        </p:spPr>
        <p:txBody>
          <a:bodyPr>
            <a:normAutofit/>
          </a:bodyPr>
          <a:lstStyle/>
          <a:p>
            <a:r>
              <a:rPr lang="en-US" dirty="0"/>
              <a:t>SN users may zap each other for the following reasons:</a:t>
            </a:r>
          </a:p>
          <a:p>
            <a:endParaRPr lang="en-US" dirty="0"/>
          </a:p>
          <a:p>
            <a:pPr lvl="1"/>
            <a:r>
              <a:rPr lang="en-US" sz="2800" dirty="0"/>
              <a:t>Altruistic “warm glow” effects</a:t>
            </a:r>
          </a:p>
          <a:p>
            <a:pPr lvl="1"/>
            <a:endParaRPr lang="en-US" sz="2800" dirty="0"/>
          </a:p>
          <a:p>
            <a:pPr lvl="1"/>
            <a:r>
              <a:rPr lang="en-US" sz="2800" dirty="0"/>
              <a:t>Desire to incentivize production of similar content</a:t>
            </a:r>
          </a:p>
          <a:p>
            <a:pPr lvl="1"/>
            <a:endParaRPr lang="en-US" sz="2800" dirty="0"/>
          </a:p>
          <a:p>
            <a:pPr lvl="1"/>
            <a:r>
              <a:rPr lang="en-US" sz="2800" dirty="0"/>
              <a:t>Desire to influence the visibility of the item</a:t>
            </a:r>
          </a:p>
        </p:txBody>
      </p:sp>
    </p:spTree>
    <p:extLst>
      <p:ext uri="{BB962C8B-B14F-4D97-AF65-F5344CB8AC3E}">
        <p14:creationId xmlns:p14="http://schemas.microsoft.com/office/powerpoint/2010/main" val="3246918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4B441-DD30-97E9-58B5-B194693195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44C541-B2D3-B93F-423B-0B5A63F516AC}"/>
              </a:ext>
            </a:extLst>
          </p:cNvPr>
          <p:cNvSpPr>
            <a:spLocks noGrp="1"/>
          </p:cNvSpPr>
          <p:nvPr>
            <p:ph type="title"/>
          </p:nvPr>
        </p:nvSpPr>
        <p:spPr>
          <a:xfrm>
            <a:off x="702734" y="164570"/>
            <a:ext cx="10828866" cy="1325563"/>
          </a:xfrm>
        </p:spPr>
        <p:txBody>
          <a:bodyPr>
            <a:normAutofit/>
          </a:bodyPr>
          <a:lstStyle/>
          <a:p>
            <a:r>
              <a:rPr lang="en-US" sz="4000" dirty="0"/>
              <a:t>Stacker News: Market-based Content Moderation</a:t>
            </a:r>
          </a:p>
        </p:txBody>
      </p:sp>
      <p:sp>
        <p:nvSpPr>
          <p:cNvPr id="3" name="Content Placeholder 2">
            <a:extLst>
              <a:ext uri="{FF2B5EF4-FFF2-40B4-BE49-F238E27FC236}">
                <a16:creationId xmlns:a16="http://schemas.microsoft.com/office/drawing/2014/main" id="{0CBA7329-715C-224C-54F6-9350C4866152}"/>
              </a:ext>
            </a:extLst>
          </p:cNvPr>
          <p:cNvSpPr>
            <a:spLocks noGrp="1"/>
          </p:cNvSpPr>
          <p:nvPr>
            <p:ph idx="1"/>
          </p:nvPr>
        </p:nvSpPr>
        <p:spPr>
          <a:xfrm>
            <a:off x="838200" y="1540933"/>
            <a:ext cx="10515600" cy="4686830"/>
          </a:xfrm>
        </p:spPr>
        <p:txBody>
          <a:bodyPr>
            <a:normAutofit/>
          </a:bodyPr>
          <a:lstStyle/>
          <a:p>
            <a:r>
              <a:rPr lang="en-US" dirty="0"/>
              <a:t>There are no formal moderators on SN</a:t>
            </a:r>
          </a:p>
          <a:p>
            <a:endParaRPr lang="en-US" dirty="0"/>
          </a:p>
          <a:p>
            <a:r>
              <a:rPr lang="en-US" dirty="0"/>
              <a:t>Instead, users can “</a:t>
            </a:r>
            <a:r>
              <a:rPr lang="en-US" dirty="0" err="1"/>
              <a:t>downzap</a:t>
            </a:r>
            <a:r>
              <a:rPr lang="en-US" dirty="0"/>
              <a:t>” posts.  A </a:t>
            </a:r>
            <a:r>
              <a:rPr lang="en-US" dirty="0" err="1"/>
              <a:t>downzap</a:t>
            </a:r>
            <a:r>
              <a:rPr lang="en-US" dirty="0"/>
              <a:t> means spending sats to reduce an item’s rank in the default sort order</a:t>
            </a:r>
          </a:p>
          <a:p>
            <a:endParaRPr lang="en-US" dirty="0"/>
          </a:p>
          <a:p>
            <a:r>
              <a:rPr lang="en-US" dirty="0"/>
              <a:t>100% of </a:t>
            </a:r>
            <a:r>
              <a:rPr lang="en-US" dirty="0" err="1"/>
              <a:t>downzaps</a:t>
            </a:r>
            <a:r>
              <a:rPr lang="en-US" dirty="0"/>
              <a:t> go to the rewards pool</a:t>
            </a:r>
          </a:p>
          <a:p>
            <a:endParaRPr lang="en-US" dirty="0"/>
          </a:p>
          <a:p>
            <a:r>
              <a:rPr lang="en-US" dirty="0"/>
              <a:t>Thus, this is a market-based system of content moderation where users pay to reduce the visibility of posts they find offensive</a:t>
            </a:r>
          </a:p>
        </p:txBody>
      </p:sp>
    </p:spTree>
    <p:extLst>
      <p:ext uri="{BB962C8B-B14F-4D97-AF65-F5344CB8AC3E}">
        <p14:creationId xmlns:p14="http://schemas.microsoft.com/office/powerpoint/2010/main" val="2860368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3B816-5CC0-63CB-F61F-DE1A63F527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E9BDD3-544C-B23B-7311-424711B62802}"/>
              </a:ext>
            </a:extLst>
          </p:cNvPr>
          <p:cNvSpPr>
            <a:spLocks noGrp="1"/>
          </p:cNvSpPr>
          <p:nvPr>
            <p:ph type="title"/>
          </p:nvPr>
        </p:nvSpPr>
        <p:spPr>
          <a:xfrm>
            <a:off x="702734" y="164570"/>
            <a:ext cx="10828866" cy="1325563"/>
          </a:xfrm>
        </p:spPr>
        <p:txBody>
          <a:bodyPr>
            <a:normAutofit/>
          </a:bodyPr>
          <a:lstStyle/>
          <a:p>
            <a:r>
              <a:rPr lang="en-US" sz="4000" dirty="0"/>
              <a:t>Hypotheses</a:t>
            </a:r>
          </a:p>
        </p:txBody>
      </p:sp>
      <p:sp>
        <p:nvSpPr>
          <p:cNvPr id="3" name="Content Placeholder 2">
            <a:extLst>
              <a:ext uri="{FF2B5EF4-FFF2-40B4-BE49-F238E27FC236}">
                <a16:creationId xmlns:a16="http://schemas.microsoft.com/office/drawing/2014/main" id="{FF129E39-2B24-30DC-1678-EF725514EE1E}"/>
              </a:ext>
            </a:extLst>
          </p:cNvPr>
          <p:cNvSpPr>
            <a:spLocks noGrp="1"/>
          </p:cNvSpPr>
          <p:nvPr>
            <p:ph idx="1"/>
          </p:nvPr>
        </p:nvSpPr>
        <p:spPr>
          <a:xfrm>
            <a:off x="838200" y="1540933"/>
            <a:ext cx="10515600" cy="4686830"/>
          </a:xfrm>
        </p:spPr>
        <p:txBody>
          <a:bodyPr>
            <a:normAutofit/>
          </a:bodyPr>
          <a:lstStyle/>
          <a:p>
            <a:r>
              <a:rPr lang="en-US" dirty="0"/>
              <a:t>Higher posting costs lead to fewer posts, but higher quality posts</a:t>
            </a:r>
          </a:p>
          <a:p>
            <a:endParaRPr lang="en-US" dirty="0"/>
          </a:p>
          <a:p>
            <a:r>
              <a:rPr lang="en-US" dirty="0"/>
              <a:t>The types of content that are better rewarded by zaps will increase prevalence over time, as users learn that those types of content are better rewarded</a:t>
            </a:r>
          </a:p>
          <a:p>
            <a:endParaRPr lang="en-US" dirty="0"/>
          </a:p>
          <a:p>
            <a:r>
              <a:rPr lang="en-US" dirty="0"/>
              <a:t>Consistently unprofitable users are more likely to leave the platform while consistently profitable users are more likely to stay</a:t>
            </a:r>
          </a:p>
          <a:p>
            <a:endParaRPr lang="en-US" dirty="0"/>
          </a:p>
          <a:p>
            <a:endParaRPr lang="en-US" dirty="0"/>
          </a:p>
        </p:txBody>
      </p:sp>
    </p:spTree>
    <p:extLst>
      <p:ext uri="{BB962C8B-B14F-4D97-AF65-F5344CB8AC3E}">
        <p14:creationId xmlns:p14="http://schemas.microsoft.com/office/powerpoint/2010/main" val="1508291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A977F-D15B-2865-962C-8E6227A428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BA7C0-E503-9693-4E90-200C73DD8882}"/>
              </a:ext>
            </a:extLst>
          </p:cNvPr>
          <p:cNvSpPr>
            <a:spLocks noGrp="1"/>
          </p:cNvSpPr>
          <p:nvPr>
            <p:ph type="title"/>
          </p:nvPr>
        </p:nvSpPr>
        <p:spPr>
          <a:xfrm>
            <a:off x="702734" y="164570"/>
            <a:ext cx="10828866" cy="1325563"/>
          </a:xfrm>
        </p:spPr>
        <p:txBody>
          <a:bodyPr>
            <a:normAutofit/>
          </a:bodyPr>
          <a:lstStyle/>
          <a:p>
            <a:r>
              <a:rPr lang="en-US" sz="4000" dirty="0"/>
              <a:t>Data</a:t>
            </a:r>
          </a:p>
        </p:txBody>
      </p:sp>
      <p:sp>
        <p:nvSpPr>
          <p:cNvPr id="3" name="Content Placeholder 2">
            <a:extLst>
              <a:ext uri="{FF2B5EF4-FFF2-40B4-BE49-F238E27FC236}">
                <a16:creationId xmlns:a16="http://schemas.microsoft.com/office/drawing/2014/main" id="{22FC00ED-06D8-A866-068A-08C5CB6DCB00}"/>
              </a:ext>
            </a:extLst>
          </p:cNvPr>
          <p:cNvSpPr>
            <a:spLocks noGrp="1"/>
          </p:cNvSpPr>
          <p:nvPr>
            <p:ph idx="1"/>
          </p:nvPr>
        </p:nvSpPr>
        <p:spPr>
          <a:xfrm>
            <a:off x="838200" y="1540933"/>
            <a:ext cx="10515600" cy="4686830"/>
          </a:xfrm>
        </p:spPr>
        <p:txBody>
          <a:bodyPr>
            <a:normAutofit/>
          </a:bodyPr>
          <a:lstStyle/>
          <a:p>
            <a:r>
              <a:rPr lang="en-US" dirty="0"/>
              <a:t>Snapshot of entire database acquired on October 5, 2025</a:t>
            </a:r>
          </a:p>
          <a:p>
            <a:endParaRPr lang="en-US" dirty="0"/>
          </a:p>
          <a:p>
            <a:pPr lvl="1"/>
            <a:r>
              <a:rPr lang="en-US" dirty="0"/>
              <a:t>207,219 posts</a:t>
            </a:r>
          </a:p>
          <a:p>
            <a:pPr lvl="1"/>
            <a:r>
              <a:rPr lang="en-US" dirty="0"/>
              <a:t>914,266 comments</a:t>
            </a:r>
          </a:p>
          <a:p>
            <a:pPr lvl="1"/>
            <a:r>
              <a:rPr lang="en-US" dirty="0"/>
              <a:t>11,228 users</a:t>
            </a:r>
          </a:p>
          <a:p>
            <a:pPr lvl="1"/>
            <a:r>
              <a:rPr lang="en-US" dirty="0"/>
              <a:t>117 territories</a:t>
            </a:r>
          </a:p>
          <a:p>
            <a:pPr lvl="1"/>
            <a:r>
              <a:rPr lang="en-US" dirty="0"/>
              <a:t>146 million sats in zaps</a:t>
            </a:r>
          </a:p>
          <a:p>
            <a:pPr lvl="1"/>
            <a:r>
              <a:rPr lang="en-US" dirty="0"/>
              <a:t>13 million sats in posting fees</a:t>
            </a:r>
          </a:p>
          <a:p>
            <a:endParaRPr lang="en-US" dirty="0"/>
          </a:p>
          <a:p>
            <a:endParaRPr lang="en-US" dirty="0"/>
          </a:p>
        </p:txBody>
      </p:sp>
    </p:spTree>
    <p:extLst>
      <p:ext uri="{BB962C8B-B14F-4D97-AF65-F5344CB8AC3E}">
        <p14:creationId xmlns:p14="http://schemas.microsoft.com/office/powerpoint/2010/main" val="114797153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66</TotalTime>
  <Words>1443</Words>
  <Application>Microsoft Macintosh PowerPoint</Application>
  <PresentationFormat>Widescreen</PresentationFormat>
  <Paragraphs>111</Paragraphs>
  <Slides>13</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Wingdings</vt:lpstr>
      <vt:lpstr>Office Theme</vt:lpstr>
      <vt:lpstr>Financial micro-incentives and internet discourse: Evidence from a Bitcoin-based discussion platform</vt:lpstr>
      <vt:lpstr>Background &amp; Motivation</vt:lpstr>
      <vt:lpstr>Background &amp; Motivation</vt:lpstr>
      <vt:lpstr>Background &amp; Motivation</vt:lpstr>
      <vt:lpstr>Stacker News</vt:lpstr>
      <vt:lpstr>Stacker News: Territories</vt:lpstr>
      <vt:lpstr>Stacker News: Pay to Post</vt:lpstr>
      <vt:lpstr>Stacker News: Value for Value</vt:lpstr>
      <vt:lpstr>Stacker News: Incentives to Zap</vt:lpstr>
      <vt:lpstr>Stacker News: Incentives to Zap</vt:lpstr>
      <vt:lpstr>Stacker News: Market-based Content Moderation</vt:lpstr>
      <vt:lpstr>Hypotheses</vt:lpstr>
      <vt:lpstr>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Kung, Edward</dc:creator>
  <cp:lastModifiedBy>Kung, Edward</cp:lastModifiedBy>
  <cp:revision>36</cp:revision>
  <dcterms:created xsi:type="dcterms:W3CDTF">2026-02-17T23:36:35Z</dcterms:created>
  <dcterms:modified xsi:type="dcterms:W3CDTF">2026-02-18T00:43:42Z</dcterms:modified>
</cp:coreProperties>
</file>