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5"/>
  </p:notesMasterIdLst>
  <p:sldIdLst>
    <p:sldId id="256" r:id="rId2"/>
    <p:sldId id="258" r:id="rId3"/>
    <p:sldId id="257" r:id="rId4"/>
    <p:sldId id="259" r:id="rId5"/>
    <p:sldId id="260" r:id="rId6"/>
    <p:sldId id="261" r:id="rId7"/>
    <p:sldId id="262" r:id="rId8"/>
    <p:sldId id="263" r:id="rId9"/>
    <p:sldId id="265" r:id="rId10"/>
    <p:sldId id="266" r:id="rId11"/>
    <p:sldId id="264"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5" r:id="rId29"/>
    <p:sldId id="283" r:id="rId30"/>
    <p:sldId id="284" r:id="rId31"/>
    <p:sldId id="286" r:id="rId32"/>
    <p:sldId id="287" r:id="rId33"/>
    <p:sldId id="288"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497"/>
    <p:restoredTop sz="65965"/>
  </p:normalViewPr>
  <p:slideViewPr>
    <p:cSldViewPr snapToGrid="0">
      <p:cViewPr varScale="1">
        <p:scale>
          <a:sx n="73" d="100"/>
          <a:sy n="73" d="100"/>
        </p:scale>
        <p:origin x="189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CEC965-92CC-F343-AAD8-B6509BC28377}" type="datetimeFigureOut">
              <a:rPr lang="en-US" smtClean="0"/>
              <a:t>2/17/2026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BE7BC1-9F45-5A4F-89A2-62472E8D9650}" type="slidenum">
              <a:rPr lang="en-US" smtClean="0"/>
              <a:t>‹#›</a:t>
            </a:fld>
            <a:endParaRPr lang="en-US"/>
          </a:p>
        </p:txBody>
      </p:sp>
    </p:spTree>
    <p:extLst>
      <p:ext uri="{BB962C8B-B14F-4D97-AF65-F5344CB8AC3E}">
        <p14:creationId xmlns:p14="http://schemas.microsoft.com/office/powerpoint/2010/main" val="1468175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discourse for matters both mundane and substantive is increasingly mediated through online discussion platforms. \</a:t>
            </a:r>
            <a:r>
              <a:rPr lang="en-US" dirty="0" err="1"/>
              <a:t>citet</a:t>
            </a:r>
            <a:r>
              <a:rPr lang="en-US" dirty="0"/>
              <a:t>{newman2025digitalnews} estimates that usage of social media as a source of news in the U.S. rose from 27\% to 54\% between the years 2013 and 2025, and \</a:t>
            </a:r>
            <a:r>
              <a:rPr lang="en-US" dirty="0" err="1"/>
              <a:t>citet</a:t>
            </a:r>
            <a:r>
              <a:rPr lang="en-US" dirty="0"/>
              <a:t>{mcclain2024pew} shows that the most popular social media platform for political news is the discussion platform X. There is growing recognition that the incentive structures governing these platforms is a crucial factor determining whether conversations proceed in healthy or unhealthy directions \</a:t>
            </a:r>
            <a:r>
              <a:rPr lang="en-US" dirty="0" err="1"/>
              <a:t>citep</a:t>
            </a:r>
            <a:r>
              <a:rPr lang="en-US" dirty="0"/>
              <a:t>{aridor2024}. Concerns about online discourse have become prevalent enough that governments around the world are exploring regulatory frameworks for moderating online content, with the EU's Digital Services Act being a prominent example.</a:t>
            </a:r>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3BE7BC1-9F45-5A4F-89A2-62472E8D9650}" type="slidenum">
              <a:rPr lang="en-US" smtClean="0"/>
              <a:t>2</a:t>
            </a:fld>
            <a:endParaRPr lang="en-US"/>
          </a:p>
        </p:txBody>
      </p:sp>
    </p:spTree>
    <p:extLst>
      <p:ext uri="{BB962C8B-B14F-4D97-AF65-F5344CB8AC3E}">
        <p14:creationId xmlns:p14="http://schemas.microsoft.com/office/powerpoint/2010/main" val="22372299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online discussion platforms are free to use. Some may charge for premium features, but these features are usually related to removing ads, content management tools, and features for gaining visibility or monetization. Few platforms charge a direct cost to post, and fewer still allow users to pay each other directly for content that they appreciate. Instead, the exchange of value between content creator and content consumer tends to be mediated through indirect mechanisms, such as ad revenue, visibility, and reputation---often referred to as ``clout''---which may indirectly benefit the content creator's endeavors outside the discussion platform proper. The indirect nature of these mechanisms may result in misaligned incentives between content creators and content consumers. For example, content creators may be more incentivized to create content that readers will \</a:t>
            </a:r>
            <a:r>
              <a:rPr lang="en-US" dirty="0" err="1"/>
              <a:t>emph</a:t>
            </a:r>
            <a:r>
              <a:rPr lang="en-US" dirty="0"/>
              <a:t>{click}, rather than content that readers will actually read, digest, and ex-post appreciate the creator for producing.</a:t>
            </a:r>
          </a:p>
        </p:txBody>
      </p:sp>
      <p:sp>
        <p:nvSpPr>
          <p:cNvPr id="4" name="Slide Number Placeholder 3"/>
          <p:cNvSpPr>
            <a:spLocks noGrp="1"/>
          </p:cNvSpPr>
          <p:nvPr>
            <p:ph type="sldNum" sz="quarter" idx="5"/>
          </p:nvPr>
        </p:nvSpPr>
        <p:spPr/>
        <p:txBody>
          <a:bodyPr/>
          <a:lstStyle/>
          <a:p>
            <a:fld id="{03BE7BC1-9F45-5A4F-89A2-62472E8D9650}" type="slidenum">
              <a:rPr lang="en-US" smtClean="0"/>
              <a:t>3</a:t>
            </a:fld>
            <a:endParaRPr lang="en-US"/>
          </a:p>
        </p:txBody>
      </p:sp>
    </p:spTree>
    <p:extLst>
      <p:ext uri="{BB962C8B-B14F-4D97-AF65-F5344CB8AC3E}">
        <p14:creationId xmlns:p14="http://schemas.microsoft.com/office/powerpoint/2010/main" val="4164107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7B79C-EC89-5800-4CC6-92A2476642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5ADDC9-DC98-1182-F82A-97CB16D3F0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7A7BAB-4E3E-25FA-6411-A31199CC2173}"/>
              </a:ext>
            </a:extLst>
          </p:cNvPr>
          <p:cNvSpPr>
            <a:spLocks noGrp="1"/>
          </p:cNvSpPr>
          <p:nvPr>
            <p:ph type="body" idx="1"/>
          </p:nvPr>
        </p:nvSpPr>
        <p:spPr/>
        <p:txBody>
          <a:bodyPr/>
          <a:lstStyle/>
          <a:p>
            <a:r>
              <a:rPr lang="en-US" dirty="0"/>
              <a:t>There are a few reasons why online discussion platforms may not want to charge posting fees or allow users to pay each other. For one, economies of scale and network effects suggest that platforms would want to onboard as many users with as little cost to the user as possible. But another, perhaps less appreciated reason is frictions in the payments infrastructure. The value of any individual post or comment is likely quite small, too small to cover the fixed fees for credit card transactions. Fee-less payments networks like Venmo do exist, but they usually have strict volume limits and charge fees to frequent users. Moreover, most popular discussion platforms, like X and Reddit, are international in scope. Routing payments between international users introduces multiple layers of frictions related to currency exchange and international banking regulations. </a:t>
            </a:r>
          </a:p>
          <a:p>
            <a:endParaRPr lang="en-US" dirty="0"/>
          </a:p>
          <a:p>
            <a:r>
              <a:rPr lang="en-US" dirty="0"/>
              <a:t>Despite this, there is good reason to believe that charging fees for posts and allowing users to pay each other directly could increase the quality of content posted. Signaling theory suggests that posting costs can be an effective deterrent against spam  \</a:t>
            </a:r>
            <a:r>
              <a:rPr lang="en-US" dirty="0" err="1"/>
              <a:t>citep</a:t>
            </a:r>
            <a:r>
              <a:rPr lang="en-US" dirty="0"/>
              <a:t>{joseph2008email}. Empirically, \</a:t>
            </a:r>
            <a:r>
              <a:rPr lang="en-US" dirty="0" err="1"/>
              <a:t>citet</a:t>
            </a:r>
            <a:r>
              <a:rPr lang="en-US" dirty="0"/>
              <a:t>{tchernichovski2019pnas} showed that introducing a small fee to an online rating system filtered out low information signals and led to higher correlation between review ratings and quality. Empirical studies from other social media platforms have also shown that financial incentives in the form of revenue sharing can influence the quantity and quality of content  \</a:t>
            </a:r>
            <a:r>
              <a:rPr lang="en-US" dirty="0" err="1"/>
              <a:t>citep</a:t>
            </a:r>
            <a:r>
              <a:rPr lang="en-US" dirty="0"/>
              <a:t>{sun2013blogs, elkomboz2023youtube, kerkhof2024youtube}, though none of these studies investigated direct peer-to-peer payments and posting costs in online discussion platforms.</a:t>
            </a:r>
          </a:p>
        </p:txBody>
      </p:sp>
      <p:sp>
        <p:nvSpPr>
          <p:cNvPr id="4" name="Slide Number Placeholder 3">
            <a:extLst>
              <a:ext uri="{FF2B5EF4-FFF2-40B4-BE49-F238E27FC236}">
                <a16:creationId xmlns:a16="http://schemas.microsoft.com/office/drawing/2014/main" id="{684D7CFC-A0B2-34A9-C1DA-263EB933BCF6}"/>
              </a:ext>
            </a:extLst>
          </p:cNvPr>
          <p:cNvSpPr>
            <a:spLocks noGrp="1"/>
          </p:cNvSpPr>
          <p:nvPr>
            <p:ph type="sldNum" sz="quarter" idx="5"/>
          </p:nvPr>
        </p:nvSpPr>
        <p:spPr/>
        <p:txBody>
          <a:bodyPr/>
          <a:lstStyle/>
          <a:p>
            <a:fld id="{03BE7BC1-9F45-5A4F-89A2-62472E8D9650}" type="slidenum">
              <a:rPr lang="en-US" smtClean="0"/>
              <a:t>4</a:t>
            </a:fld>
            <a:endParaRPr lang="en-US"/>
          </a:p>
        </p:txBody>
      </p:sp>
    </p:spTree>
    <p:extLst>
      <p:ext uri="{BB962C8B-B14F-4D97-AF65-F5344CB8AC3E}">
        <p14:creationId xmlns:p14="http://schemas.microsoft.com/office/powerpoint/2010/main" val="2983651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0E8CD-EA81-36DF-A2AF-DDE10DEF4E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818AA6-A307-3031-CDA0-BD6446B3CB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F6A854-9683-AE8D-C5A2-F51562652C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86356F-A6FB-67D2-E966-D4F8B797A7F6}"/>
              </a:ext>
            </a:extLst>
          </p:cNvPr>
          <p:cNvSpPr>
            <a:spLocks noGrp="1"/>
          </p:cNvSpPr>
          <p:nvPr>
            <p:ph type="sldNum" sz="quarter" idx="5"/>
          </p:nvPr>
        </p:nvSpPr>
        <p:spPr/>
        <p:txBody>
          <a:bodyPr/>
          <a:lstStyle/>
          <a:p>
            <a:fld id="{03BE7BC1-9F45-5A4F-89A2-62472E8D9650}" type="slidenum">
              <a:rPr lang="en-US" smtClean="0"/>
              <a:t>5</a:t>
            </a:fld>
            <a:endParaRPr lang="en-US"/>
          </a:p>
        </p:txBody>
      </p:sp>
    </p:spTree>
    <p:extLst>
      <p:ext uri="{BB962C8B-B14F-4D97-AF65-F5344CB8AC3E}">
        <p14:creationId xmlns:p14="http://schemas.microsoft.com/office/powerpoint/2010/main" val="2707823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41C4E-368D-4BB0-6131-F322125B62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232A0-C741-7ED8-D0F6-8CCF6B7300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2DDFDC-3DAF-45FB-F5D0-7F5A33C24B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6873ED-A10D-EA6B-1FD8-2D7503748585}"/>
              </a:ext>
            </a:extLst>
          </p:cNvPr>
          <p:cNvSpPr>
            <a:spLocks noGrp="1"/>
          </p:cNvSpPr>
          <p:nvPr>
            <p:ph type="sldNum" sz="quarter" idx="5"/>
          </p:nvPr>
        </p:nvSpPr>
        <p:spPr/>
        <p:txBody>
          <a:bodyPr/>
          <a:lstStyle/>
          <a:p>
            <a:fld id="{03BE7BC1-9F45-5A4F-89A2-62472E8D9650}" type="slidenum">
              <a:rPr lang="en-US" smtClean="0"/>
              <a:t>6</a:t>
            </a:fld>
            <a:endParaRPr lang="en-US"/>
          </a:p>
        </p:txBody>
      </p:sp>
    </p:spTree>
    <p:extLst>
      <p:ext uri="{BB962C8B-B14F-4D97-AF65-F5344CB8AC3E}">
        <p14:creationId xmlns:p14="http://schemas.microsoft.com/office/powerpoint/2010/main" val="8965920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E01E8-945C-84B9-FA2C-8C495A96CE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DC9FD8-E3F7-6804-FA49-F26F488C3B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627645-10E7-0F17-5AFF-3F81D328A1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06A1C30-F2C6-9866-8188-4FB15902CAFE}"/>
              </a:ext>
            </a:extLst>
          </p:cNvPr>
          <p:cNvSpPr>
            <a:spLocks noGrp="1"/>
          </p:cNvSpPr>
          <p:nvPr>
            <p:ph type="sldNum" sz="quarter" idx="5"/>
          </p:nvPr>
        </p:nvSpPr>
        <p:spPr/>
        <p:txBody>
          <a:bodyPr/>
          <a:lstStyle/>
          <a:p>
            <a:fld id="{03BE7BC1-9F45-5A4F-89A2-62472E8D9650}" type="slidenum">
              <a:rPr lang="en-US" smtClean="0"/>
              <a:t>7</a:t>
            </a:fld>
            <a:endParaRPr lang="en-US"/>
          </a:p>
        </p:txBody>
      </p:sp>
    </p:spTree>
    <p:extLst>
      <p:ext uri="{BB962C8B-B14F-4D97-AF65-F5344CB8AC3E}">
        <p14:creationId xmlns:p14="http://schemas.microsoft.com/office/powerpoint/2010/main" val="8947817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3D36-B25B-C3A3-A87D-6AFE8B1926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73E53B-9611-18B7-7C5A-38D20991E3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800D3C-0EB8-9B79-38CE-225EC04BA3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35A871-C88E-CD99-8ACF-E75CA09F6F8E}"/>
              </a:ext>
            </a:extLst>
          </p:cNvPr>
          <p:cNvSpPr>
            <a:spLocks noGrp="1"/>
          </p:cNvSpPr>
          <p:nvPr>
            <p:ph type="sldNum" sz="quarter" idx="5"/>
          </p:nvPr>
        </p:nvSpPr>
        <p:spPr/>
        <p:txBody>
          <a:bodyPr/>
          <a:lstStyle/>
          <a:p>
            <a:fld id="{03BE7BC1-9F45-5A4F-89A2-62472E8D9650}" type="slidenum">
              <a:rPr lang="en-US" smtClean="0"/>
              <a:t>8</a:t>
            </a:fld>
            <a:endParaRPr lang="en-US"/>
          </a:p>
        </p:txBody>
      </p:sp>
    </p:spTree>
    <p:extLst>
      <p:ext uri="{BB962C8B-B14F-4D97-AF65-F5344CB8AC3E}">
        <p14:creationId xmlns:p14="http://schemas.microsoft.com/office/powerpoint/2010/main" val="17771282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D355F-E9BB-0A70-A043-FAAB16F049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FBF538-5EFE-78B8-44B2-4983D6A7E3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139C9-4B05-313A-779E-02D9447874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D9E076-364F-8C09-4548-7553C2CBFA61}"/>
              </a:ext>
            </a:extLst>
          </p:cNvPr>
          <p:cNvSpPr>
            <a:spLocks noGrp="1"/>
          </p:cNvSpPr>
          <p:nvPr>
            <p:ph type="sldNum" sz="quarter" idx="5"/>
          </p:nvPr>
        </p:nvSpPr>
        <p:spPr/>
        <p:txBody>
          <a:bodyPr/>
          <a:lstStyle/>
          <a:p>
            <a:fld id="{03BE7BC1-9F45-5A4F-89A2-62472E8D9650}" type="slidenum">
              <a:rPr lang="en-US" smtClean="0"/>
              <a:t>9</a:t>
            </a:fld>
            <a:endParaRPr lang="en-US"/>
          </a:p>
        </p:txBody>
      </p:sp>
    </p:spTree>
    <p:extLst>
      <p:ext uri="{BB962C8B-B14F-4D97-AF65-F5344CB8AC3E}">
        <p14:creationId xmlns:p14="http://schemas.microsoft.com/office/powerpoint/2010/main" val="12628815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DD8DF-4A7A-07AA-633D-437110663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F46EB8-8E50-5FFA-3B73-455C3F647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BE7588-E11C-0D92-D515-D36803722B9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015DAF-D0E4-4A9F-195A-62C474F38418}"/>
              </a:ext>
            </a:extLst>
          </p:cNvPr>
          <p:cNvSpPr>
            <a:spLocks noGrp="1"/>
          </p:cNvSpPr>
          <p:nvPr>
            <p:ph type="sldNum" sz="quarter" idx="5"/>
          </p:nvPr>
        </p:nvSpPr>
        <p:spPr/>
        <p:txBody>
          <a:bodyPr/>
          <a:lstStyle/>
          <a:p>
            <a:fld id="{03BE7BC1-9F45-5A4F-89A2-62472E8D9650}" type="slidenum">
              <a:rPr lang="en-US" smtClean="0"/>
              <a:t>10</a:t>
            </a:fld>
            <a:endParaRPr lang="en-US"/>
          </a:p>
        </p:txBody>
      </p:sp>
    </p:spTree>
    <p:extLst>
      <p:ext uri="{BB962C8B-B14F-4D97-AF65-F5344CB8AC3E}">
        <p14:creationId xmlns:p14="http://schemas.microsoft.com/office/powerpoint/2010/main" val="17240606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9147-873B-6549-4385-B42B7A9A86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14E43D-6961-EEFC-4EB4-E277ECA04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51DDA7-93D5-3761-7051-CD6381B4A5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CE1A02-55EB-F939-E071-84A5E77EB521}"/>
              </a:ext>
            </a:extLst>
          </p:cNvPr>
          <p:cNvSpPr>
            <a:spLocks noGrp="1"/>
          </p:cNvSpPr>
          <p:nvPr>
            <p:ph type="sldNum" sz="quarter" idx="5"/>
          </p:nvPr>
        </p:nvSpPr>
        <p:spPr/>
        <p:txBody>
          <a:bodyPr/>
          <a:lstStyle/>
          <a:p>
            <a:fld id="{03BE7BC1-9F45-5A4F-89A2-62472E8D9650}" type="slidenum">
              <a:rPr lang="en-US" smtClean="0"/>
              <a:t>11</a:t>
            </a:fld>
            <a:endParaRPr lang="en-US"/>
          </a:p>
        </p:txBody>
      </p:sp>
    </p:spTree>
    <p:extLst>
      <p:ext uri="{BB962C8B-B14F-4D97-AF65-F5344CB8AC3E}">
        <p14:creationId xmlns:p14="http://schemas.microsoft.com/office/powerpoint/2010/main" val="9128204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F7E8-E362-0FEB-C153-2ED0A9DCCB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CADE0-2D2D-2FD6-E125-4D853C21B6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8C3149-7132-485A-6231-DBFD4D0CDE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B1199C-52F6-ACC3-3D61-DCB6686839A0}"/>
              </a:ext>
            </a:extLst>
          </p:cNvPr>
          <p:cNvSpPr>
            <a:spLocks noGrp="1"/>
          </p:cNvSpPr>
          <p:nvPr>
            <p:ph type="sldNum" sz="quarter" idx="5"/>
          </p:nvPr>
        </p:nvSpPr>
        <p:spPr/>
        <p:txBody>
          <a:bodyPr/>
          <a:lstStyle/>
          <a:p>
            <a:fld id="{03BE7BC1-9F45-5A4F-89A2-62472E8D9650}" type="slidenum">
              <a:rPr lang="en-US" smtClean="0"/>
              <a:t>12</a:t>
            </a:fld>
            <a:endParaRPr lang="en-US"/>
          </a:p>
        </p:txBody>
      </p:sp>
    </p:spTree>
    <p:extLst>
      <p:ext uri="{BB962C8B-B14F-4D97-AF65-F5344CB8AC3E}">
        <p14:creationId xmlns:p14="http://schemas.microsoft.com/office/powerpoint/2010/main" val="2644386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DB8CC-FED5-5B7C-03CF-07BB3656AD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F3205-B849-973F-38C9-DECF6CD060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846D22-E9C6-D121-5D0B-E8E0BB8FD6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49753E-A617-1FB0-1E48-3B1D42234E57}"/>
              </a:ext>
            </a:extLst>
          </p:cNvPr>
          <p:cNvSpPr>
            <a:spLocks noGrp="1"/>
          </p:cNvSpPr>
          <p:nvPr>
            <p:ph type="sldNum" sz="quarter" idx="5"/>
          </p:nvPr>
        </p:nvSpPr>
        <p:spPr/>
        <p:txBody>
          <a:bodyPr/>
          <a:lstStyle/>
          <a:p>
            <a:fld id="{03BE7BC1-9F45-5A4F-89A2-62472E8D9650}" type="slidenum">
              <a:rPr lang="en-US" smtClean="0"/>
              <a:t>13</a:t>
            </a:fld>
            <a:endParaRPr lang="en-US"/>
          </a:p>
        </p:txBody>
      </p:sp>
    </p:spTree>
    <p:extLst>
      <p:ext uri="{BB962C8B-B14F-4D97-AF65-F5344CB8AC3E}">
        <p14:creationId xmlns:p14="http://schemas.microsoft.com/office/powerpoint/2010/main" val="25014046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E6722-E292-CA1B-AE2D-CFA4DA9C11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B708E4-0872-7CF2-B718-06F06F94D1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2B8E4F-F0EC-D496-11EF-4405F1788E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A82DD2-C14E-E8B6-424E-9138BB9FD492}"/>
              </a:ext>
            </a:extLst>
          </p:cNvPr>
          <p:cNvSpPr>
            <a:spLocks noGrp="1"/>
          </p:cNvSpPr>
          <p:nvPr>
            <p:ph type="sldNum" sz="quarter" idx="5"/>
          </p:nvPr>
        </p:nvSpPr>
        <p:spPr/>
        <p:txBody>
          <a:bodyPr/>
          <a:lstStyle/>
          <a:p>
            <a:fld id="{03BE7BC1-9F45-5A4F-89A2-62472E8D9650}" type="slidenum">
              <a:rPr lang="en-US" smtClean="0"/>
              <a:t>14</a:t>
            </a:fld>
            <a:endParaRPr lang="en-US"/>
          </a:p>
        </p:txBody>
      </p:sp>
    </p:spTree>
    <p:extLst>
      <p:ext uri="{BB962C8B-B14F-4D97-AF65-F5344CB8AC3E}">
        <p14:creationId xmlns:p14="http://schemas.microsoft.com/office/powerpoint/2010/main" val="22176471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DE4B4-1F65-681E-C5A5-5DC0EC126B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E2D221-F4FB-CA2A-F2E1-2455C79800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9FAA65-70F9-268D-C3AD-5C9078EBA4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8374B50-2A3F-BC70-D725-7F5B3EF2D298}"/>
              </a:ext>
            </a:extLst>
          </p:cNvPr>
          <p:cNvSpPr>
            <a:spLocks noGrp="1"/>
          </p:cNvSpPr>
          <p:nvPr>
            <p:ph type="sldNum" sz="quarter" idx="5"/>
          </p:nvPr>
        </p:nvSpPr>
        <p:spPr/>
        <p:txBody>
          <a:bodyPr/>
          <a:lstStyle/>
          <a:p>
            <a:fld id="{03BE7BC1-9F45-5A4F-89A2-62472E8D9650}" type="slidenum">
              <a:rPr lang="en-US" smtClean="0"/>
              <a:t>15</a:t>
            </a:fld>
            <a:endParaRPr lang="en-US"/>
          </a:p>
        </p:txBody>
      </p:sp>
    </p:spTree>
    <p:extLst>
      <p:ext uri="{BB962C8B-B14F-4D97-AF65-F5344CB8AC3E}">
        <p14:creationId xmlns:p14="http://schemas.microsoft.com/office/powerpoint/2010/main" val="324126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Doubling of posting cost = 16.4% increase in zaps</a:t>
            </a:r>
          </a:p>
        </p:txBody>
      </p:sp>
      <p:sp>
        <p:nvSpPr>
          <p:cNvPr id="4" name="Slide Number Placeholder 3"/>
          <p:cNvSpPr>
            <a:spLocks noGrp="1"/>
          </p:cNvSpPr>
          <p:nvPr>
            <p:ph type="sldNum" sz="quarter" idx="5"/>
          </p:nvPr>
        </p:nvSpPr>
        <p:spPr/>
        <p:txBody>
          <a:bodyPr/>
          <a:lstStyle/>
          <a:p>
            <a:fld id="{03BE7BC1-9F45-5A4F-89A2-62472E8D9650}" type="slidenum">
              <a:rPr lang="en-US" smtClean="0"/>
              <a:t>17</a:t>
            </a:fld>
            <a:endParaRPr lang="en-US"/>
          </a:p>
        </p:txBody>
      </p:sp>
    </p:spTree>
    <p:extLst>
      <p:ext uri="{BB962C8B-B14F-4D97-AF65-F5344CB8AC3E}">
        <p14:creationId xmlns:p14="http://schemas.microsoft.com/office/powerpoint/2010/main" val="5998937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Doubling of posting cost = 3 percent increase in replies received</a:t>
            </a:r>
          </a:p>
        </p:txBody>
      </p:sp>
      <p:sp>
        <p:nvSpPr>
          <p:cNvPr id="4" name="Slide Number Placeholder 3"/>
          <p:cNvSpPr>
            <a:spLocks noGrp="1"/>
          </p:cNvSpPr>
          <p:nvPr>
            <p:ph type="sldNum" sz="quarter" idx="5"/>
          </p:nvPr>
        </p:nvSpPr>
        <p:spPr/>
        <p:txBody>
          <a:bodyPr/>
          <a:lstStyle/>
          <a:p>
            <a:fld id="{03BE7BC1-9F45-5A4F-89A2-62472E8D9650}" type="slidenum">
              <a:rPr lang="en-US" smtClean="0"/>
              <a:t>18</a:t>
            </a:fld>
            <a:endParaRPr lang="en-US"/>
          </a:p>
        </p:txBody>
      </p:sp>
    </p:spTree>
    <p:extLst>
      <p:ext uri="{BB962C8B-B14F-4D97-AF65-F5344CB8AC3E}">
        <p14:creationId xmlns:p14="http://schemas.microsoft.com/office/powerpoint/2010/main" val="39566905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4EF5E-400D-6903-57CE-DE6799D239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E77E5-D4FB-00C2-13CC-75C9ED32D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078DD2-E890-4696-01A4-2B43198E9C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BC5A54-FB66-69B7-B838-F9B295014B2D}"/>
              </a:ext>
            </a:extLst>
          </p:cNvPr>
          <p:cNvSpPr>
            <a:spLocks noGrp="1"/>
          </p:cNvSpPr>
          <p:nvPr>
            <p:ph type="sldNum" sz="quarter" idx="5"/>
          </p:nvPr>
        </p:nvSpPr>
        <p:spPr/>
        <p:txBody>
          <a:bodyPr/>
          <a:lstStyle/>
          <a:p>
            <a:fld id="{03BE7BC1-9F45-5A4F-89A2-62472E8D9650}" type="slidenum">
              <a:rPr lang="en-US" smtClean="0"/>
              <a:t>19</a:t>
            </a:fld>
            <a:endParaRPr lang="en-US"/>
          </a:p>
        </p:txBody>
      </p:sp>
    </p:spTree>
    <p:extLst>
      <p:ext uri="{BB962C8B-B14F-4D97-AF65-F5344CB8AC3E}">
        <p14:creationId xmlns:p14="http://schemas.microsoft.com/office/powerpoint/2010/main" val="4012241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96C99-246A-FA0D-E59A-55BE76B381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95338-D8DF-A158-5013-2441186627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4B21A7-4332-A053-C26C-EE5B736F0E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829E00-C15A-A71C-0E7F-9F1E8474962F}"/>
              </a:ext>
            </a:extLst>
          </p:cNvPr>
          <p:cNvSpPr>
            <a:spLocks noGrp="1"/>
          </p:cNvSpPr>
          <p:nvPr>
            <p:ph type="sldNum" sz="quarter" idx="5"/>
          </p:nvPr>
        </p:nvSpPr>
        <p:spPr/>
        <p:txBody>
          <a:bodyPr/>
          <a:lstStyle/>
          <a:p>
            <a:fld id="{03BE7BC1-9F45-5A4F-89A2-62472E8D9650}" type="slidenum">
              <a:rPr lang="en-US" smtClean="0"/>
              <a:t>20</a:t>
            </a:fld>
            <a:endParaRPr lang="en-US"/>
          </a:p>
        </p:txBody>
      </p:sp>
    </p:spTree>
    <p:extLst>
      <p:ext uri="{BB962C8B-B14F-4D97-AF65-F5344CB8AC3E}">
        <p14:creationId xmlns:p14="http://schemas.microsoft.com/office/powerpoint/2010/main" val="24803705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Doubling post cost = 16.8 percent fewer posts</a:t>
            </a:r>
          </a:p>
        </p:txBody>
      </p:sp>
      <p:sp>
        <p:nvSpPr>
          <p:cNvPr id="4" name="Slide Number Placeholder 3"/>
          <p:cNvSpPr>
            <a:spLocks noGrp="1"/>
          </p:cNvSpPr>
          <p:nvPr>
            <p:ph type="sldNum" sz="quarter" idx="5"/>
          </p:nvPr>
        </p:nvSpPr>
        <p:spPr/>
        <p:txBody>
          <a:bodyPr/>
          <a:lstStyle/>
          <a:p>
            <a:fld id="{03BE7BC1-9F45-5A4F-89A2-62472E8D9650}" type="slidenum">
              <a:rPr lang="en-US" smtClean="0"/>
              <a:t>21</a:t>
            </a:fld>
            <a:endParaRPr lang="en-US"/>
          </a:p>
        </p:txBody>
      </p:sp>
    </p:spTree>
    <p:extLst>
      <p:ext uri="{BB962C8B-B14F-4D97-AF65-F5344CB8AC3E}">
        <p14:creationId xmlns:p14="http://schemas.microsoft.com/office/powerpoint/2010/main" val="41988480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EBF61-D520-36A7-3F51-82BA8D56DB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288C7D-760D-2A31-4D69-C98F9703CF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295299-A892-DF04-727F-A51E699A492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BDE69D-C510-420A-07D7-8A30D1785D7C}"/>
              </a:ext>
            </a:extLst>
          </p:cNvPr>
          <p:cNvSpPr>
            <a:spLocks noGrp="1"/>
          </p:cNvSpPr>
          <p:nvPr>
            <p:ph type="sldNum" sz="quarter" idx="5"/>
          </p:nvPr>
        </p:nvSpPr>
        <p:spPr/>
        <p:txBody>
          <a:bodyPr/>
          <a:lstStyle/>
          <a:p>
            <a:fld id="{03BE7BC1-9F45-5A4F-89A2-62472E8D9650}" type="slidenum">
              <a:rPr lang="en-US" smtClean="0"/>
              <a:t>22</a:t>
            </a:fld>
            <a:endParaRPr lang="en-US"/>
          </a:p>
        </p:txBody>
      </p:sp>
    </p:spTree>
    <p:extLst>
      <p:ext uri="{BB962C8B-B14F-4D97-AF65-F5344CB8AC3E}">
        <p14:creationId xmlns:p14="http://schemas.microsoft.com/office/powerpoint/2010/main" val="40051923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21359-7E6B-A629-16FC-B5C8534C0C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8847C-500B-6101-CF38-FF7A593AF8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E2EF5B-05AE-2E81-77F2-6062456871C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706D0DC-CB41-DAE3-E305-8F8D3236BACA}"/>
              </a:ext>
            </a:extLst>
          </p:cNvPr>
          <p:cNvSpPr>
            <a:spLocks noGrp="1"/>
          </p:cNvSpPr>
          <p:nvPr>
            <p:ph type="sldNum" sz="quarter" idx="5"/>
          </p:nvPr>
        </p:nvSpPr>
        <p:spPr/>
        <p:txBody>
          <a:bodyPr/>
          <a:lstStyle/>
          <a:p>
            <a:fld id="{03BE7BC1-9F45-5A4F-89A2-62472E8D9650}" type="slidenum">
              <a:rPr lang="en-US" smtClean="0"/>
              <a:t>23</a:t>
            </a:fld>
            <a:endParaRPr lang="en-US"/>
          </a:p>
        </p:txBody>
      </p:sp>
    </p:spTree>
    <p:extLst>
      <p:ext uri="{BB962C8B-B14F-4D97-AF65-F5344CB8AC3E}">
        <p14:creationId xmlns:p14="http://schemas.microsoft.com/office/powerpoint/2010/main" val="9372076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9021-1A79-EC3A-EDF2-9FC31DFBA7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799BA4-DAC1-F373-7E8D-3BAD80A6B3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517506-1765-EAB0-98F7-86676BAB6A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AD1E6E-4672-F006-00F5-BB6670B31A82}"/>
              </a:ext>
            </a:extLst>
          </p:cNvPr>
          <p:cNvSpPr>
            <a:spLocks noGrp="1"/>
          </p:cNvSpPr>
          <p:nvPr>
            <p:ph type="sldNum" sz="quarter" idx="5"/>
          </p:nvPr>
        </p:nvSpPr>
        <p:spPr/>
        <p:txBody>
          <a:bodyPr/>
          <a:lstStyle/>
          <a:p>
            <a:fld id="{03BE7BC1-9F45-5A4F-89A2-62472E8D9650}" type="slidenum">
              <a:rPr lang="en-US" smtClean="0"/>
              <a:t>27</a:t>
            </a:fld>
            <a:endParaRPr lang="en-US"/>
          </a:p>
        </p:txBody>
      </p:sp>
    </p:spTree>
    <p:extLst>
      <p:ext uri="{BB962C8B-B14F-4D97-AF65-F5344CB8AC3E}">
        <p14:creationId xmlns:p14="http://schemas.microsoft.com/office/powerpoint/2010/main" val="7004767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CCFB54-88DA-842C-74E1-8A43220AD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F0BBF7-CD3A-CDEF-5816-927B75D5FD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B4C9F2-CF83-237C-A21E-A677146C1D8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410405-EF3E-7E45-8BA4-CBD4E79D9123}"/>
              </a:ext>
            </a:extLst>
          </p:cNvPr>
          <p:cNvSpPr>
            <a:spLocks noGrp="1"/>
          </p:cNvSpPr>
          <p:nvPr>
            <p:ph type="sldNum" sz="quarter" idx="5"/>
          </p:nvPr>
        </p:nvSpPr>
        <p:spPr/>
        <p:txBody>
          <a:bodyPr/>
          <a:lstStyle/>
          <a:p>
            <a:fld id="{03BE7BC1-9F45-5A4F-89A2-62472E8D9650}" type="slidenum">
              <a:rPr lang="en-US" smtClean="0"/>
              <a:t>28</a:t>
            </a:fld>
            <a:endParaRPr lang="en-US"/>
          </a:p>
        </p:txBody>
      </p:sp>
    </p:spTree>
    <p:extLst>
      <p:ext uri="{BB962C8B-B14F-4D97-AF65-F5344CB8AC3E}">
        <p14:creationId xmlns:p14="http://schemas.microsoft.com/office/powerpoint/2010/main" val="162991386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users with the same number of prior high quality posts, same amount of prior zaps, same number of prior posts</a:t>
            </a:r>
          </a:p>
          <a:p>
            <a:endParaRPr lang="en-US" dirty="0"/>
          </a:p>
          <a:p>
            <a:r>
              <a:rPr lang="en-US" dirty="0"/>
              <a:t>User A earned 75% of their prior zaps on high quality posts, user B earned only 25%:</a:t>
            </a:r>
          </a:p>
          <a:p>
            <a:endParaRPr lang="en-US" dirty="0"/>
          </a:p>
          <a:p>
            <a:pPr marL="171450" indent="-171450">
              <a:buFontTx/>
              <a:buChar char="-"/>
            </a:pPr>
            <a:r>
              <a:rPr lang="en-US" dirty="0"/>
              <a:t>User A is 6.4 pp more likely to subsequently make a high quality post  (significant, since only 23.4% of all posts are high quality)</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03BE7BC1-9F45-5A4F-89A2-62472E8D9650}" type="slidenum">
              <a:rPr lang="en-US" smtClean="0"/>
              <a:t>29</a:t>
            </a:fld>
            <a:endParaRPr lang="en-US"/>
          </a:p>
        </p:txBody>
      </p:sp>
    </p:spTree>
    <p:extLst>
      <p:ext uri="{BB962C8B-B14F-4D97-AF65-F5344CB8AC3E}">
        <p14:creationId xmlns:p14="http://schemas.microsoft.com/office/powerpoint/2010/main" val="27213534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B6F9B7-E98A-E7D4-96D0-3692B03B4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C612AE-2CBF-DBDC-DCF7-7CE5754067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BCE04E-CB57-29B9-C54F-FD8F8B9AFE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014091-3921-4B68-8D72-63C593706F8B}"/>
              </a:ext>
            </a:extLst>
          </p:cNvPr>
          <p:cNvSpPr>
            <a:spLocks noGrp="1"/>
          </p:cNvSpPr>
          <p:nvPr>
            <p:ph type="sldNum" sz="quarter" idx="5"/>
          </p:nvPr>
        </p:nvSpPr>
        <p:spPr/>
        <p:txBody>
          <a:bodyPr/>
          <a:lstStyle/>
          <a:p>
            <a:fld id="{03BE7BC1-9F45-5A4F-89A2-62472E8D9650}" type="slidenum">
              <a:rPr lang="en-US" smtClean="0"/>
              <a:t>30</a:t>
            </a:fld>
            <a:endParaRPr lang="en-US"/>
          </a:p>
        </p:txBody>
      </p:sp>
    </p:spTree>
    <p:extLst>
      <p:ext uri="{BB962C8B-B14F-4D97-AF65-F5344CB8AC3E}">
        <p14:creationId xmlns:p14="http://schemas.microsoft.com/office/powerpoint/2010/main" val="36798715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Unprofitable users more likely to become inactive (5.5 pp more likely)</a:t>
            </a:r>
          </a:p>
          <a:p>
            <a:endParaRPr lang="en-US" dirty="0"/>
          </a:p>
          <a:p>
            <a:r>
              <a:rPr lang="en-US" dirty="0"/>
              <a:t>This is in comparison to a baseline probability of 14.1% per week</a:t>
            </a:r>
          </a:p>
          <a:p>
            <a:endParaRPr lang="en-US" dirty="0"/>
          </a:p>
          <a:p>
            <a:r>
              <a:rPr lang="en-US" dirty="0"/>
              <a:t>This effect is amplified when the bitcoin price has recently grown, i.e. when real losses in terms of purchasing power were greater</a:t>
            </a:r>
          </a:p>
          <a:p>
            <a:endParaRPr lang="en-US" dirty="0"/>
          </a:p>
          <a:p>
            <a:r>
              <a:rPr lang="en-US" dirty="0"/>
              <a:t>If </a:t>
            </a:r>
            <a:r>
              <a:rPr lang="en-US" dirty="0" err="1"/>
              <a:t>btc</a:t>
            </a:r>
            <a:r>
              <a:rPr lang="en-US" dirty="0"/>
              <a:t> price appreciated by 10% in last 8 weeks, unprofitability effect increases from 5.5pp to 6.1 pp</a:t>
            </a:r>
          </a:p>
          <a:p>
            <a:endParaRPr lang="en-US" dirty="0"/>
          </a:p>
          <a:p>
            <a:endParaRPr lang="en-US" dirty="0"/>
          </a:p>
        </p:txBody>
      </p:sp>
      <p:sp>
        <p:nvSpPr>
          <p:cNvPr id="4" name="Slide Number Placeholder 3"/>
          <p:cNvSpPr>
            <a:spLocks noGrp="1"/>
          </p:cNvSpPr>
          <p:nvPr>
            <p:ph type="sldNum" sz="quarter" idx="5"/>
          </p:nvPr>
        </p:nvSpPr>
        <p:spPr/>
        <p:txBody>
          <a:bodyPr/>
          <a:lstStyle/>
          <a:p>
            <a:fld id="{03BE7BC1-9F45-5A4F-89A2-62472E8D9650}" type="slidenum">
              <a:rPr lang="en-US" smtClean="0"/>
              <a:t>31</a:t>
            </a:fld>
            <a:endParaRPr lang="en-US"/>
          </a:p>
        </p:txBody>
      </p:sp>
    </p:spTree>
    <p:extLst>
      <p:ext uri="{BB962C8B-B14F-4D97-AF65-F5344CB8AC3E}">
        <p14:creationId xmlns:p14="http://schemas.microsoft.com/office/powerpoint/2010/main" val="30794672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693C4-FDDF-9517-2293-3AC756ECE4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61104-6ED5-BDDA-2A7E-4EDCA40938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4259F4-583F-8D51-ECB5-D849F4111AA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B75544-49F2-E3BC-2915-0CD3B2A120E0}"/>
              </a:ext>
            </a:extLst>
          </p:cNvPr>
          <p:cNvSpPr>
            <a:spLocks noGrp="1"/>
          </p:cNvSpPr>
          <p:nvPr>
            <p:ph type="sldNum" sz="quarter" idx="5"/>
          </p:nvPr>
        </p:nvSpPr>
        <p:spPr/>
        <p:txBody>
          <a:bodyPr/>
          <a:lstStyle/>
          <a:p>
            <a:fld id="{03BE7BC1-9F45-5A4F-89A2-62472E8D9650}" type="slidenum">
              <a:rPr lang="en-US" smtClean="0"/>
              <a:t>32</a:t>
            </a:fld>
            <a:endParaRPr lang="en-US"/>
          </a:p>
        </p:txBody>
      </p:sp>
    </p:spTree>
    <p:extLst>
      <p:ext uri="{BB962C8B-B14F-4D97-AF65-F5344CB8AC3E}">
        <p14:creationId xmlns:p14="http://schemas.microsoft.com/office/powerpoint/2010/main" val="1425721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E419C3E-E668-754E-8C9F-EA2B1649DE86}"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12143045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E419C3E-E668-754E-8C9F-EA2B1649DE86}"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1944758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419C3E-E668-754E-8C9F-EA2B1649DE86}"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15639569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E419C3E-E668-754E-8C9F-EA2B1649DE86}"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113506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E419C3E-E668-754E-8C9F-EA2B1649DE86}" type="datetimeFigureOut">
              <a:rPr lang="en-US" smtClean="0"/>
              <a:t>2/17/2026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18372574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E419C3E-E668-754E-8C9F-EA2B1649DE86}" type="datetimeFigureOut">
              <a:rPr lang="en-US" smtClean="0"/>
              <a:t>2/17/2026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41918530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419C3E-E668-754E-8C9F-EA2B1649DE86}" type="datetimeFigureOut">
              <a:rPr lang="en-US" smtClean="0"/>
              <a:t>2/17/2026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4875468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419C3E-E668-754E-8C9F-EA2B1649DE86}"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36411138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419C3E-E668-754E-8C9F-EA2B1649DE86}" type="datetimeFigureOut">
              <a:rPr lang="en-US" smtClean="0"/>
              <a:t>2/17/2026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19376219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E419C3E-E668-754E-8C9F-EA2B1649DE86}"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24315472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E419C3E-E668-754E-8C9F-EA2B1649DE86}" type="datetimeFigureOut">
              <a:rPr lang="en-US" smtClean="0"/>
              <a:t>2/17/2026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D79E22-88FB-0446-9E20-2DF95C78E99D}" type="slidenum">
              <a:rPr lang="en-US" smtClean="0"/>
              <a:t>‹#›</a:t>
            </a:fld>
            <a:endParaRPr lang="en-US"/>
          </a:p>
        </p:txBody>
      </p:sp>
    </p:spTree>
    <p:extLst>
      <p:ext uri="{BB962C8B-B14F-4D97-AF65-F5344CB8AC3E}">
        <p14:creationId xmlns:p14="http://schemas.microsoft.com/office/powerpoint/2010/main" val="22764638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E419C3E-E668-754E-8C9F-EA2B1649DE86}" type="datetimeFigureOut">
              <a:rPr lang="en-US" smtClean="0"/>
              <a:t>2/17/2026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D79E22-88FB-0446-9E20-2DF95C78E99D}" type="slidenum">
              <a:rPr lang="en-US" smtClean="0"/>
              <a:t>‹#›</a:t>
            </a:fld>
            <a:endParaRPr lang="en-US"/>
          </a:p>
        </p:txBody>
      </p:sp>
    </p:spTree>
    <p:extLst>
      <p:ext uri="{BB962C8B-B14F-4D97-AF65-F5344CB8AC3E}">
        <p14:creationId xmlns:p14="http://schemas.microsoft.com/office/powerpoint/2010/main" val="254642996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557AA-5A7F-84E6-06BF-507FDF04A4D9}"/>
              </a:ext>
            </a:extLst>
          </p:cNvPr>
          <p:cNvSpPr>
            <a:spLocks noGrp="1"/>
          </p:cNvSpPr>
          <p:nvPr>
            <p:ph type="ctrTitle"/>
          </p:nvPr>
        </p:nvSpPr>
        <p:spPr>
          <a:xfrm>
            <a:off x="3725333" y="756356"/>
            <a:ext cx="7902222" cy="3456558"/>
          </a:xfrm>
        </p:spPr>
        <p:txBody>
          <a:bodyPr>
            <a:normAutofit fontScale="90000"/>
          </a:bodyPr>
          <a:lstStyle/>
          <a:p>
            <a:r>
              <a:rPr lang="en-US" dirty="0"/>
              <a:t>Financial micro-incentives and internet discourse: Evidence from a Bitcoin-based discussion platform</a:t>
            </a:r>
          </a:p>
        </p:txBody>
      </p:sp>
      <p:sp>
        <p:nvSpPr>
          <p:cNvPr id="3" name="Subtitle 2">
            <a:extLst>
              <a:ext uri="{FF2B5EF4-FFF2-40B4-BE49-F238E27FC236}">
                <a16:creationId xmlns:a16="http://schemas.microsoft.com/office/drawing/2014/main" id="{90943E6D-E7D2-4B98-693C-20A60DD33AFA}"/>
              </a:ext>
            </a:extLst>
          </p:cNvPr>
          <p:cNvSpPr>
            <a:spLocks noGrp="1"/>
          </p:cNvSpPr>
          <p:nvPr>
            <p:ph type="subTitle" idx="1"/>
          </p:nvPr>
        </p:nvSpPr>
        <p:spPr>
          <a:xfrm>
            <a:off x="4143022" y="4707077"/>
            <a:ext cx="7066844" cy="900953"/>
          </a:xfrm>
        </p:spPr>
        <p:txBody>
          <a:bodyPr/>
          <a:lstStyle/>
          <a:p>
            <a:r>
              <a:rPr lang="en-US" dirty="0"/>
              <a:t>Edward Kung and Keyan Kousha</a:t>
            </a:r>
          </a:p>
          <a:p>
            <a:r>
              <a:rPr lang="en-US" dirty="0"/>
              <a:t>February 25, 2026</a:t>
            </a:r>
          </a:p>
        </p:txBody>
      </p:sp>
      <p:pic>
        <p:nvPicPr>
          <p:cNvPr id="5" name="Graphic 4">
            <a:extLst>
              <a:ext uri="{FF2B5EF4-FFF2-40B4-BE49-F238E27FC236}">
                <a16:creationId xmlns:a16="http://schemas.microsoft.com/office/drawing/2014/main" id="{D2AF5912-FC46-92F7-2FA6-7568F5FAB1A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6754" y="521838"/>
            <a:ext cx="4851674" cy="4851674"/>
          </a:xfrm>
          <a:prstGeom prst="rect">
            <a:avLst/>
          </a:prstGeom>
        </p:spPr>
      </p:pic>
    </p:spTree>
    <p:extLst>
      <p:ext uri="{BB962C8B-B14F-4D97-AF65-F5344CB8AC3E}">
        <p14:creationId xmlns:p14="http://schemas.microsoft.com/office/powerpoint/2010/main" val="12799187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121C1-1D9E-ED0B-1C63-5A073C5E80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A1D8DD-0032-CAC0-9D79-4982753A2B53}"/>
              </a:ext>
            </a:extLst>
          </p:cNvPr>
          <p:cNvSpPr>
            <a:spLocks noGrp="1"/>
          </p:cNvSpPr>
          <p:nvPr>
            <p:ph type="title"/>
          </p:nvPr>
        </p:nvSpPr>
        <p:spPr/>
        <p:txBody>
          <a:bodyPr/>
          <a:lstStyle/>
          <a:p>
            <a:r>
              <a:rPr lang="en-US" dirty="0"/>
              <a:t>Background &amp; Motivation</a:t>
            </a:r>
          </a:p>
        </p:txBody>
      </p:sp>
      <p:sp>
        <p:nvSpPr>
          <p:cNvPr id="3" name="Content Placeholder 2">
            <a:extLst>
              <a:ext uri="{FF2B5EF4-FFF2-40B4-BE49-F238E27FC236}">
                <a16:creationId xmlns:a16="http://schemas.microsoft.com/office/drawing/2014/main" id="{3697B8BA-2EA7-D0C3-C3AF-F5023F726FBF}"/>
              </a:ext>
            </a:extLst>
          </p:cNvPr>
          <p:cNvSpPr>
            <a:spLocks noGrp="1"/>
          </p:cNvSpPr>
          <p:nvPr>
            <p:ph idx="1"/>
          </p:nvPr>
        </p:nvSpPr>
        <p:spPr/>
        <p:txBody>
          <a:bodyPr/>
          <a:lstStyle/>
          <a:p>
            <a:r>
              <a:rPr lang="en-US" dirty="0"/>
              <a:t>Public discourse increasingly takes place online</a:t>
            </a:r>
          </a:p>
          <a:p>
            <a:endParaRPr lang="en-US" dirty="0"/>
          </a:p>
          <a:p>
            <a:r>
              <a:rPr lang="en-US" dirty="0"/>
              <a:t>Newman et al. (2025) estimates 54% of Americans use social media as a news source</a:t>
            </a:r>
          </a:p>
          <a:p>
            <a:endParaRPr lang="en-US" dirty="0"/>
          </a:p>
          <a:p>
            <a:r>
              <a:rPr lang="en-US" dirty="0"/>
              <a:t>Growing recognition of the importance of incentive structures built into platforms (</a:t>
            </a:r>
            <a:r>
              <a:rPr lang="en-US" dirty="0" err="1"/>
              <a:t>Arridor</a:t>
            </a:r>
            <a:r>
              <a:rPr lang="en-US" dirty="0"/>
              <a:t> et al., 2024)</a:t>
            </a:r>
          </a:p>
          <a:p>
            <a:endParaRPr lang="en-US" dirty="0"/>
          </a:p>
        </p:txBody>
      </p:sp>
    </p:spTree>
    <p:extLst>
      <p:ext uri="{BB962C8B-B14F-4D97-AF65-F5344CB8AC3E}">
        <p14:creationId xmlns:p14="http://schemas.microsoft.com/office/powerpoint/2010/main" val="54966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86C2E-6259-ED5C-3FA1-ADCAFEA73DDF}"/>
              </a:ext>
            </a:extLst>
          </p:cNvPr>
          <p:cNvSpPr>
            <a:spLocks noGrp="1"/>
          </p:cNvSpPr>
          <p:nvPr>
            <p:ph type="title"/>
          </p:nvPr>
        </p:nvSpPr>
        <p:spPr/>
        <p:txBody>
          <a:bodyPr/>
          <a:lstStyle/>
          <a:p>
            <a:r>
              <a:rPr lang="en-US" dirty="0"/>
              <a:t>Background &amp; Motivation</a:t>
            </a:r>
          </a:p>
        </p:txBody>
      </p:sp>
      <p:sp>
        <p:nvSpPr>
          <p:cNvPr id="3" name="Content Placeholder 2">
            <a:extLst>
              <a:ext uri="{FF2B5EF4-FFF2-40B4-BE49-F238E27FC236}">
                <a16:creationId xmlns:a16="http://schemas.microsoft.com/office/drawing/2014/main" id="{EAFBCDAF-034C-8152-A81C-98D7E282A818}"/>
              </a:ext>
            </a:extLst>
          </p:cNvPr>
          <p:cNvSpPr>
            <a:spLocks noGrp="1"/>
          </p:cNvSpPr>
          <p:nvPr>
            <p:ph idx="1"/>
          </p:nvPr>
        </p:nvSpPr>
        <p:spPr/>
        <p:txBody>
          <a:bodyPr/>
          <a:lstStyle/>
          <a:p>
            <a:r>
              <a:rPr lang="en-US" dirty="0"/>
              <a:t>Most online discussion platforms are free to use</a:t>
            </a:r>
          </a:p>
          <a:p>
            <a:endParaRPr lang="en-US" dirty="0"/>
          </a:p>
          <a:p>
            <a:r>
              <a:rPr lang="en-US" dirty="0"/>
              <a:t>Exchange of value between content creator and content consumer happens indirectly</a:t>
            </a:r>
          </a:p>
          <a:p>
            <a:endParaRPr lang="en-US" dirty="0"/>
          </a:p>
          <a:p>
            <a:r>
              <a:rPr lang="en-US" dirty="0"/>
              <a:t>Potentially leads to misaligned incentives (e.g. optimizing for clicks rather than genuine ex-post appreciation for the content)</a:t>
            </a:r>
          </a:p>
          <a:p>
            <a:endParaRPr lang="en-US" dirty="0"/>
          </a:p>
        </p:txBody>
      </p:sp>
    </p:spTree>
    <p:extLst>
      <p:ext uri="{BB962C8B-B14F-4D97-AF65-F5344CB8AC3E}">
        <p14:creationId xmlns:p14="http://schemas.microsoft.com/office/powerpoint/2010/main" val="40146702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807A2-A86E-0C79-35DD-C13903CC65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DE736C-A290-6AB9-41DF-72BB9CB7499E}"/>
              </a:ext>
            </a:extLst>
          </p:cNvPr>
          <p:cNvSpPr>
            <a:spLocks noGrp="1"/>
          </p:cNvSpPr>
          <p:nvPr>
            <p:ph type="title"/>
          </p:nvPr>
        </p:nvSpPr>
        <p:spPr/>
        <p:txBody>
          <a:bodyPr/>
          <a:lstStyle/>
          <a:p>
            <a:r>
              <a:rPr lang="en-US" dirty="0"/>
              <a:t>Background &amp; Motivation</a:t>
            </a:r>
          </a:p>
        </p:txBody>
      </p:sp>
      <p:sp>
        <p:nvSpPr>
          <p:cNvPr id="3" name="Content Placeholder 2">
            <a:extLst>
              <a:ext uri="{FF2B5EF4-FFF2-40B4-BE49-F238E27FC236}">
                <a16:creationId xmlns:a16="http://schemas.microsoft.com/office/drawing/2014/main" id="{78B3A899-5013-1373-CE41-A8D41F60AF88}"/>
              </a:ext>
            </a:extLst>
          </p:cNvPr>
          <p:cNvSpPr>
            <a:spLocks noGrp="1"/>
          </p:cNvSpPr>
          <p:nvPr>
            <p:ph idx="1"/>
          </p:nvPr>
        </p:nvSpPr>
        <p:spPr>
          <a:xfrm>
            <a:off x="838200" y="1690688"/>
            <a:ext cx="10515600" cy="4486275"/>
          </a:xfrm>
        </p:spPr>
        <p:txBody>
          <a:bodyPr>
            <a:normAutofit fontScale="92500" lnSpcReduction="20000"/>
          </a:bodyPr>
          <a:lstStyle/>
          <a:p>
            <a:r>
              <a:rPr lang="en-US" dirty="0"/>
              <a:t>This paper:  </a:t>
            </a:r>
            <a:r>
              <a:rPr lang="en-US" b="1" dirty="0"/>
              <a:t>Does charging a fee to post and letting users directly pay each other for content improve post quality?</a:t>
            </a:r>
          </a:p>
          <a:p>
            <a:endParaRPr lang="en-US" dirty="0"/>
          </a:p>
          <a:p>
            <a:r>
              <a:rPr lang="en-US" dirty="0"/>
              <a:t>Signaling theory suggests pay-to-post could increase quality (Joseph and </a:t>
            </a:r>
            <a:r>
              <a:rPr lang="en-US" dirty="0" err="1"/>
              <a:t>Thevaranjan</a:t>
            </a:r>
            <a:r>
              <a:rPr lang="en-US" dirty="0"/>
              <a:t>, 2008; </a:t>
            </a:r>
            <a:r>
              <a:rPr lang="en-US" dirty="0" err="1"/>
              <a:t>Tchernichovski</a:t>
            </a:r>
            <a:r>
              <a:rPr lang="en-US" dirty="0"/>
              <a:t> et al. 2019)</a:t>
            </a:r>
          </a:p>
          <a:p>
            <a:endParaRPr lang="en-US" dirty="0"/>
          </a:p>
          <a:p>
            <a:r>
              <a:rPr lang="en-US" dirty="0"/>
              <a:t>Empirical studies of other social media platforms showed that financial incentives affect content quality</a:t>
            </a:r>
            <a:r>
              <a:rPr lang="en-US" dirty="0">
                <a:sym typeface="Wingdings" pitchFamily="2" charset="2"/>
              </a:rPr>
              <a:t> and quantity (Sun and Zhu, 2013; El-</a:t>
            </a:r>
            <a:r>
              <a:rPr lang="en-US" dirty="0" err="1">
                <a:sym typeface="Wingdings" pitchFamily="2" charset="2"/>
              </a:rPr>
              <a:t>Komboz</a:t>
            </a:r>
            <a:r>
              <a:rPr lang="en-US" dirty="0">
                <a:sym typeface="Wingdings" pitchFamily="2" charset="2"/>
              </a:rPr>
              <a:t> et al. 2023; Kerkhof, 2024)</a:t>
            </a:r>
          </a:p>
          <a:p>
            <a:endParaRPr lang="en-US" dirty="0">
              <a:sym typeface="Wingdings" pitchFamily="2" charset="2"/>
            </a:endParaRPr>
          </a:p>
          <a:p>
            <a:r>
              <a:rPr lang="en-US" dirty="0">
                <a:sym typeface="Wingdings" pitchFamily="2" charset="2"/>
              </a:rPr>
              <a:t>To our knowledge, no one has studied direct financial incentives on a discussion platform in which users can directly tip each other</a:t>
            </a:r>
            <a:endParaRPr lang="en-US" dirty="0"/>
          </a:p>
          <a:p>
            <a:endParaRPr lang="en-US" dirty="0"/>
          </a:p>
          <a:p>
            <a:endParaRPr lang="en-US" dirty="0"/>
          </a:p>
        </p:txBody>
      </p:sp>
    </p:spTree>
    <p:extLst>
      <p:ext uri="{BB962C8B-B14F-4D97-AF65-F5344CB8AC3E}">
        <p14:creationId xmlns:p14="http://schemas.microsoft.com/office/powerpoint/2010/main" val="20289485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71702-0CDF-1EEB-4029-1EEDAA6ED7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2CC8E2-E3C6-2D7E-EDD5-2973E54B4043}"/>
              </a:ext>
            </a:extLst>
          </p:cNvPr>
          <p:cNvSpPr>
            <a:spLocks noGrp="1"/>
          </p:cNvSpPr>
          <p:nvPr>
            <p:ph type="title"/>
          </p:nvPr>
        </p:nvSpPr>
        <p:spPr>
          <a:xfrm>
            <a:off x="702734" y="164570"/>
            <a:ext cx="10515600" cy="1325563"/>
          </a:xfrm>
        </p:spPr>
        <p:txBody>
          <a:bodyPr/>
          <a:lstStyle/>
          <a:p>
            <a:r>
              <a:rPr lang="en-US" dirty="0"/>
              <a:t>Stacker News</a:t>
            </a:r>
          </a:p>
        </p:txBody>
      </p:sp>
      <p:sp>
        <p:nvSpPr>
          <p:cNvPr id="3" name="Content Placeholder 2">
            <a:extLst>
              <a:ext uri="{FF2B5EF4-FFF2-40B4-BE49-F238E27FC236}">
                <a16:creationId xmlns:a16="http://schemas.microsoft.com/office/drawing/2014/main" id="{89FA34AA-01A6-F8B0-D104-980BCF7ADFA8}"/>
              </a:ext>
            </a:extLst>
          </p:cNvPr>
          <p:cNvSpPr>
            <a:spLocks noGrp="1"/>
          </p:cNvSpPr>
          <p:nvPr>
            <p:ph idx="1"/>
          </p:nvPr>
        </p:nvSpPr>
        <p:spPr>
          <a:xfrm>
            <a:off x="838200" y="1490133"/>
            <a:ext cx="10515600" cy="4686830"/>
          </a:xfrm>
        </p:spPr>
        <p:txBody>
          <a:bodyPr>
            <a:normAutofit fontScale="92500" lnSpcReduction="10000"/>
          </a:bodyPr>
          <a:lstStyle/>
          <a:p>
            <a:r>
              <a:rPr lang="en-US" dirty="0"/>
              <a:t>Stacker News is an online discussion platform like Reddit where users must pay to post, and users can tip each other Bitcoin for posts they like (called zaps)</a:t>
            </a:r>
          </a:p>
          <a:p>
            <a:pPr marL="0" indent="0">
              <a:buNone/>
            </a:pPr>
            <a:endParaRPr lang="en-US" dirty="0"/>
          </a:p>
          <a:p>
            <a:r>
              <a:rPr lang="en-US" dirty="0"/>
              <a:t>Typical posting cost is 1-100 sats (about 0.1 to 10 cents)</a:t>
            </a:r>
          </a:p>
          <a:p>
            <a:endParaRPr lang="en-US" dirty="0"/>
          </a:p>
          <a:p>
            <a:r>
              <a:rPr lang="en-US" dirty="0"/>
              <a:t>Typical zap amount is also 1-100 sats, though sometimes it can range into the thousands</a:t>
            </a:r>
          </a:p>
          <a:p>
            <a:endParaRPr lang="en-US" dirty="0"/>
          </a:p>
          <a:p>
            <a:r>
              <a:rPr lang="en-US" dirty="0"/>
              <a:t>The micropayments are enabled by a technology called the Lightning Network, which enables instantaneous, global, peer-to-peer micropayments built on top of the Bitcoin base network</a:t>
            </a:r>
          </a:p>
          <a:p>
            <a:endParaRPr lang="en-US" dirty="0"/>
          </a:p>
        </p:txBody>
      </p:sp>
    </p:spTree>
    <p:extLst>
      <p:ext uri="{BB962C8B-B14F-4D97-AF65-F5344CB8AC3E}">
        <p14:creationId xmlns:p14="http://schemas.microsoft.com/office/powerpoint/2010/main" val="2092509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3038F-F54D-FA78-274A-E845C52C9F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78F8AC-162D-3FDC-023D-7A36A2631CD3}"/>
              </a:ext>
            </a:extLst>
          </p:cNvPr>
          <p:cNvSpPr>
            <a:spLocks noGrp="1"/>
          </p:cNvSpPr>
          <p:nvPr>
            <p:ph type="title"/>
          </p:nvPr>
        </p:nvSpPr>
        <p:spPr>
          <a:xfrm>
            <a:off x="702734" y="164570"/>
            <a:ext cx="10515600" cy="1325563"/>
          </a:xfrm>
        </p:spPr>
        <p:txBody>
          <a:bodyPr/>
          <a:lstStyle/>
          <a:p>
            <a:r>
              <a:rPr lang="en-US" dirty="0"/>
              <a:t>Stacker News: Territories</a:t>
            </a:r>
          </a:p>
        </p:txBody>
      </p:sp>
      <p:sp>
        <p:nvSpPr>
          <p:cNvPr id="3" name="Content Placeholder 2">
            <a:extLst>
              <a:ext uri="{FF2B5EF4-FFF2-40B4-BE49-F238E27FC236}">
                <a16:creationId xmlns:a16="http://schemas.microsoft.com/office/drawing/2014/main" id="{1FC6B3B9-CE7D-6C14-3AFE-9BBB7C5421B0}"/>
              </a:ext>
            </a:extLst>
          </p:cNvPr>
          <p:cNvSpPr>
            <a:spLocks noGrp="1"/>
          </p:cNvSpPr>
          <p:nvPr>
            <p:ph idx="1"/>
          </p:nvPr>
        </p:nvSpPr>
        <p:spPr>
          <a:xfrm>
            <a:off x="838200" y="1490133"/>
            <a:ext cx="10515600" cy="4686830"/>
          </a:xfrm>
        </p:spPr>
        <p:txBody>
          <a:bodyPr>
            <a:normAutofit/>
          </a:bodyPr>
          <a:lstStyle/>
          <a:p>
            <a:r>
              <a:rPr lang="en-US" dirty="0"/>
              <a:t>SN is organized into a number of topic-specific subforums called “territories” (think subreddits)</a:t>
            </a:r>
          </a:p>
          <a:p>
            <a:endParaRPr lang="en-US" dirty="0"/>
          </a:p>
          <a:p>
            <a:r>
              <a:rPr lang="en-US" dirty="0"/>
              <a:t>Examples of territories: ~bitcoin, ~econ, ~AI, ~</a:t>
            </a:r>
            <a:r>
              <a:rPr lang="en-US" dirty="0" err="1"/>
              <a:t>Politics_And_Law</a:t>
            </a:r>
            <a:r>
              <a:rPr lang="en-US" dirty="0"/>
              <a:t>, ~</a:t>
            </a:r>
            <a:r>
              <a:rPr lang="en-US" dirty="0" err="1"/>
              <a:t>BooksAndArticles</a:t>
            </a:r>
            <a:endParaRPr lang="en-US" dirty="0"/>
          </a:p>
          <a:p>
            <a:endParaRPr lang="en-US" dirty="0"/>
          </a:p>
          <a:p>
            <a:r>
              <a:rPr lang="en-US" dirty="0"/>
              <a:t>Territories are operated by users.  Users create and maintain territories by paying a monthly fee to SN for the rights to operate that territory (50,000 sats/month)</a:t>
            </a:r>
          </a:p>
        </p:txBody>
      </p:sp>
    </p:spTree>
    <p:extLst>
      <p:ext uri="{BB962C8B-B14F-4D97-AF65-F5344CB8AC3E}">
        <p14:creationId xmlns:p14="http://schemas.microsoft.com/office/powerpoint/2010/main" val="816053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C1B56-1344-AD34-A433-23EAB4C828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9CCA85-D312-0A9F-1C56-6FAED918116C}"/>
              </a:ext>
            </a:extLst>
          </p:cNvPr>
          <p:cNvSpPr>
            <a:spLocks noGrp="1"/>
          </p:cNvSpPr>
          <p:nvPr>
            <p:ph type="title"/>
          </p:nvPr>
        </p:nvSpPr>
        <p:spPr>
          <a:xfrm>
            <a:off x="702734" y="164570"/>
            <a:ext cx="10515600" cy="1325563"/>
          </a:xfrm>
        </p:spPr>
        <p:txBody>
          <a:bodyPr/>
          <a:lstStyle/>
          <a:p>
            <a:r>
              <a:rPr lang="en-US" dirty="0"/>
              <a:t>Stacker News: Pay to Post</a:t>
            </a:r>
          </a:p>
        </p:txBody>
      </p:sp>
      <p:sp>
        <p:nvSpPr>
          <p:cNvPr id="3" name="Content Placeholder 2">
            <a:extLst>
              <a:ext uri="{FF2B5EF4-FFF2-40B4-BE49-F238E27FC236}">
                <a16:creationId xmlns:a16="http://schemas.microsoft.com/office/drawing/2014/main" id="{8C860B30-050C-BC41-6607-A02DD0E5BE96}"/>
              </a:ext>
            </a:extLst>
          </p:cNvPr>
          <p:cNvSpPr>
            <a:spLocks noGrp="1"/>
          </p:cNvSpPr>
          <p:nvPr>
            <p:ph idx="1"/>
          </p:nvPr>
        </p:nvSpPr>
        <p:spPr>
          <a:xfrm>
            <a:off x="838200" y="1490133"/>
            <a:ext cx="10515600" cy="4686830"/>
          </a:xfrm>
        </p:spPr>
        <p:txBody>
          <a:bodyPr>
            <a:normAutofit/>
          </a:bodyPr>
          <a:lstStyle/>
          <a:p>
            <a:r>
              <a:rPr lang="en-US" dirty="0"/>
              <a:t>Each territory charges a different fee to post in that territory</a:t>
            </a:r>
          </a:p>
          <a:p>
            <a:endParaRPr lang="en-US" dirty="0"/>
          </a:p>
          <a:p>
            <a:r>
              <a:rPr lang="en-US" dirty="0"/>
              <a:t>The territory fee is set by the operator of that territory</a:t>
            </a:r>
          </a:p>
          <a:p>
            <a:endParaRPr lang="en-US" dirty="0"/>
          </a:p>
          <a:p>
            <a:r>
              <a:rPr lang="en-US" dirty="0"/>
              <a:t>When a user makes a post in a territory, 70% of the fee goes to the territory owner; 30% goes to a daily rewards pool</a:t>
            </a:r>
          </a:p>
          <a:p>
            <a:endParaRPr lang="en-US" dirty="0"/>
          </a:p>
          <a:p>
            <a:r>
              <a:rPr lang="en-US" dirty="0"/>
              <a:t>Territory owners must choose a posting fee to optimize between quantity and quality of posts, revenue generated, and engagement</a:t>
            </a:r>
          </a:p>
        </p:txBody>
      </p:sp>
    </p:spTree>
    <p:extLst>
      <p:ext uri="{BB962C8B-B14F-4D97-AF65-F5344CB8AC3E}">
        <p14:creationId xmlns:p14="http://schemas.microsoft.com/office/powerpoint/2010/main" val="1503403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91D78E-830A-E81D-8E99-F9EB65906E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8C6E79-4D56-E48F-7A11-7268354A6477}"/>
              </a:ext>
            </a:extLst>
          </p:cNvPr>
          <p:cNvSpPr>
            <a:spLocks noGrp="1"/>
          </p:cNvSpPr>
          <p:nvPr>
            <p:ph type="title"/>
          </p:nvPr>
        </p:nvSpPr>
        <p:spPr>
          <a:xfrm>
            <a:off x="702734" y="164570"/>
            <a:ext cx="10515600" cy="1325563"/>
          </a:xfrm>
        </p:spPr>
        <p:txBody>
          <a:bodyPr/>
          <a:lstStyle/>
          <a:p>
            <a:r>
              <a:rPr lang="en-US" dirty="0"/>
              <a:t>Stacker News: Value for Value</a:t>
            </a:r>
          </a:p>
        </p:txBody>
      </p:sp>
      <p:sp>
        <p:nvSpPr>
          <p:cNvPr id="3" name="Content Placeholder 2">
            <a:extLst>
              <a:ext uri="{FF2B5EF4-FFF2-40B4-BE49-F238E27FC236}">
                <a16:creationId xmlns:a16="http://schemas.microsoft.com/office/drawing/2014/main" id="{48B1E1D5-E8B0-6764-08FE-518D28FC3F3D}"/>
              </a:ext>
            </a:extLst>
          </p:cNvPr>
          <p:cNvSpPr>
            <a:spLocks noGrp="1"/>
          </p:cNvSpPr>
          <p:nvPr>
            <p:ph idx="1"/>
          </p:nvPr>
        </p:nvSpPr>
        <p:spPr>
          <a:xfrm>
            <a:off x="838200" y="1540933"/>
            <a:ext cx="10515600" cy="4686830"/>
          </a:xfrm>
        </p:spPr>
        <p:txBody>
          <a:bodyPr>
            <a:normAutofit fontScale="85000" lnSpcReduction="10000"/>
          </a:bodyPr>
          <a:lstStyle/>
          <a:p>
            <a:r>
              <a:rPr lang="en-US" dirty="0"/>
              <a:t>SN allows users to zap (tip) each other for content that they enjoy</a:t>
            </a:r>
          </a:p>
          <a:p>
            <a:endParaRPr lang="en-US" dirty="0"/>
          </a:p>
          <a:p>
            <a:r>
              <a:rPr lang="en-US" dirty="0"/>
              <a:t>Think of a zap as an upvote in Reddit, except that it costs real money (sats).</a:t>
            </a:r>
          </a:p>
          <a:p>
            <a:endParaRPr lang="en-US" dirty="0"/>
          </a:p>
          <a:p>
            <a:r>
              <a:rPr lang="en-US" dirty="0"/>
              <a:t>Zaps are sent peer-to-peer over the Lightning Network</a:t>
            </a:r>
          </a:p>
          <a:p>
            <a:endParaRPr lang="en-US" dirty="0"/>
          </a:p>
          <a:p>
            <a:r>
              <a:rPr lang="en-US" dirty="0"/>
              <a:t>When a user zaps another user, a 30% “tax” on the zap is imposed.  21% goes to the territory owner and 9% goes to rewards pool.  (This is a form of sybil resistance)</a:t>
            </a:r>
          </a:p>
          <a:p>
            <a:endParaRPr lang="en-US" dirty="0"/>
          </a:p>
          <a:p>
            <a:r>
              <a:rPr lang="en-US" dirty="0"/>
              <a:t>The amount of zaps a post receives affects its sort order in SN’s default list view</a:t>
            </a:r>
          </a:p>
        </p:txBody>
      </p:sp>
    </p:spTree>
    <p:extLst>
      <p:ext uri="{BB962C8B-B14F-4D97-AF65-F5344CB8AC3E}">
        <p14:creationId xmlns:p14="http://schemas.microsoft.com/office/powerpoint/2010/main" val="1395901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1A9CE-985C-C26C-7317-9F5A96EC29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0DCC7-7CE6-00F6-FA4B-7D72F8CEA279}"/>
              </a:ext>
            </a:extLst>
          </p:cNvPr>
          <p:cNvSpPr>
            <a:spLocks noGrp="1"/>
          </p:cNvSpPr>
          <p:nvPr>
            <p:ph type="title"/>
          </p:nvPr>
        </p:nvSpPr>
        <p:spPr>
          <a:xfrm>
            <a:off x="702734" y="164570"/>
            <a:ext cx="10515600" cy="1325563"/>
          </a:xfrm>
        </p:spPr>
        <p:txBody>
          <a:bodyPr/>
          <a:lstStyle/>
          <a:p>
            <a:r>
              <a:rPr lang="en-US" dirty="0"/>
              <a:t>Stacker News: Incentives to Zap</a:t>
            </a:r>
          </a:p>
        </p:txBody>
      </p:sp>
      <p:sp>
        <p:nvSpPr>
          <p:cNvPr id="3" name="Content Placeholder 2">
            <a:extLst>
              <a:ext uri="{FF2B5EF4-FFF2-40B4-BE49-F238E27FC236}">
                <a16:creationId xmlns:a16="http://schemas.microsoft.com/office/drawing/2014/main" id="{8B298A4A-326D-8A20-FCFB-D520AA3EDADD}"/>
              </a:ext>
            </a:extLst>
          </p:cNvPr>
          <p:cNvSpPr>
            <a:spLocks noGrp="1"/>
          </p:cNvSpPr>
          <p:nvPr>
            <p:ph idx="1"/>
          </p:nvPr>
        </p:nvSpPr>
        <p:spPr>
          <a:xfrm>
            <a:off x="838200" y="1540933"/>
            <a:ext cx="10515600" cy="4686830"/>
          </a:xfrm>
        </p:spPr>
        <p:txBody>
          <a:bodyPr>
            <a:normAutofit lnSpcReduction="10000"/>
          </a:bodyPr>
          <a:lstStyle/>
          <a:p>
            <a:r>
              <a:rPr lang="en-US" dirty="0"/>
              <a:t>The literature on tipping suggests that it is motivated by altruistic “warm glow” effects (Andreoni, 1990; Crumpler and Grossman, 2008; Azar, 2020)</a:t>
            </a:r>
          </a:p>
          <a:p>
            <a:pPr marL="0" indent="0">
              <a:buNone/>
            </a:pPr>
            <a:endParaRPr lang="en-US" dirty="0"/>
          </a:p>
          <a:p>
            <a:r>
              <a:rPr lang="en-US" dirty="0"/>
              <a:t>SN zaps are not completely similar to traditional tipping though, because interactions are repeated and there is no base compensation</a:t>
            </a:r>
          </a:p>
          <a:p>
            <a:endParaRPr lang="en-US" dirty="0"/>
          </a:p>
          <a:p>
            <a:r>
              <a:rPr lang="en-US" dirty="0"/>
              <a:t>Zaps may be closer to “pay-what-you-want” systems, where users voluntarily pay to prevent producers from switching to a more disadvantageous regime</a:t>
            </a:r>
          </a:p>
        </p:txBody>
      </p:sp>
    </p:spTree>
    <p:extLst>
      <p:ext uri="{BB962C8B-B14F-4D97-AF65-F5344CB8AC3E}">
        <p14:creationId xmlns:p14="http://schemas.microsoft.com/office/powerpoint/2010/main" val="35413997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56AD4-C22D-36B1-3213-72ECDC4B4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57B2E8-89EB-A06F-A47B-F2AF64EB6A23}"/>
              </a:ext>
            </a:extLst>
          </p:cNvPr>
          <p:cNvSpPr>
            <a:spLocks noGrp="1"/>
          </p:cNvSpPr>
          <p:nvPr>
            <p:ph type="title"/>
          </p:nvPr>
        </p:nvSpPr>
        <p:spPr>
          <a:xfrm>
            <a:off x="702734" y="164570"/>
            <a:ext cx="10515600" cy="1325563"/>
          </a:xfrm>
        </p:spPr>
        <p:txBody>
          <a:bodyPr/>
          <a:lstStyle/>
          <a:p>
            <a:r>
              <a:rPr lang="en-US" dirty="0"/>
              <a:t>Stacker News: Incentives to Zap</a:t>
            </a:r>
          </a:p>
        </p:txBody>
      </p:sp>
      <p:sp>
        <p:nvSpPr>
          <p:cNvPr id="3" name="Content Placeholder 2">
            <a:extLst>
              <a:ext uri="{FF2B5EF4-FFF2-40B4-BE49-F238E27FC236}">
                <a16:creationId xmlns:a16="http://schemas.microsoft.com/office/drawing/2014/main" id="{B1266F95-94C6-A07B-7B80-806702F3CCDD}"/>
              </a:ext>
            </a:extLst>
          </p:cNvPr>
          <p:cNvSpPr>
            <a:spLocks noGrp="1"/>
          </p:cNvSpPr>
          <p:nvPr>
            <p:ph idx="1"/>
          </p:nvPr>
        </p:nvSpPr>
        <p:spPr>
          <a:xfrm>
            <a:off x="838200" y="1659466"/>
            <a:ext cx="10515600" cy="4686830"/>
          </a:xfrm>
        </p:spPr>
        <p:txBody>
          <a:bodyPr>
            <a:normAutofit/>
          </a:bodyPr>
          <a:lstStyle/>
          <a:p>
            <a:r>
              <a:rPr lang="en-US" dirty="0"/>
              <a:t>SN users may zap each other for the following reasons:</a:t>
            </a:r>
          </a:p>
          <a:p>
            <a:endParaRPr lang="en-US" dirty="0"/>
          </a:p>
          <a:p>
            <a:pPr lvl="1"/>
            <a:r>
              <a:rPr lang="en-US" sz="2800" dirty="0"/>
              <a:t>Altruistic “warm glow” effects</a:t>
            </a:r>
          </a:p>
          <a:p>
            <a:pPr lvl="1"/>
            <a:endParaRPr lang="en-US" sz="2800" dirty="0"/>
          </a:p>
          <a:p>
            <a:pPr lvl="1"/>
            <a:r>
              <a:rPr lang="en-US" sz="2800" dirty="0"/>
              <a:t>Desire to incentivize production of similar content</a:t>
            </a:r>
          </a:p>
          <a:p>
            <a:pPr lvl="1"/>
            <a:endParaRPr lang="en-US" sz="2800" dirty="0"/>
          </a:p>
          <a:p>
            <a:pPr lvl="1"/>
            <a:r>
              <a:rPr lang="en-US" sz="2800" dirty="0"/>
              <a:t>Desire to influence the visibility of the item</a:t>
            </a:r>
          </a:p>
        </p:txBody>
      </p:sp>
    </p:spTree>
    <p:extLst>
      <p:ext uri="{BB962C8B-B14F-4D97-AF65-F5344CB8AC3E}">
        <p14:creationId xmlns:p14="http://schemas.microsoft.com/office/powerpoint/2010/main" val="32469182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4B441-DD30-97E9-58B5-B194693195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4C541-B2D3-B93F-423B-0B5A63F516AC}"/>
              </a:ext>
            </a:extLst>
          </p:cNvPr>
          <p:cNvSpPr>
            <a:spLocks noGrp="1"/>
          </p:cNvSpPr>
          <p:nvPr>
            <p:ph type="title"/>
          </p:nvPr>
        </p:nvSpPr>
        <p:spPr>
          <a:xfrm>
            <a:off x="702734" y="164570"/>
            <a:ext cx="10828866" cy="1325563"/>
          </a:xfrm>
        </p:spPr>
        <p:txBody>
          <a:bodyPr>
            <a:normAutofit/>
          </a:bodyPr>
          <a:lstStyle/>
          <a:p>
            <a:r>
              <a:rPr lang="en-US" sz="4000" dirty="0"/>
              <a:t>Stacker News: Market-based Content Moderation</a:t>
            </a:r>
          </a:p>
        </p:txBody>
      </p:sp>
      <p:sp>
        <p:nvSpPr>
          <p:cNvPr id="3" name="Content Placeholder 2">
            <a:extLst>
              <a:ext uri="{FF2B5EF4-FFF2-40B4-BE49-F238E27FC236}">
                <a16:creationId xmlns:a16="http://schemas.microsoft.com/office/drawing/2014/main" id="{0CBA7329-715C-224C-54F6-9350C4866152}"/>
              </a:ext>
            </a:extLst>
          </p:cNvPr>
          <p:cNvSpPr>
            <a:spLocks noGrp="1"/>
          </p:cNvSpPr>
          <p:nvPr>
            <p:ph idx="1"/>
          </p:nvPr>
        </p:nvSpPr>
        <p:spPr>
          <a:xfrm>
            <a:off x="838200" y="1540933"/>
            <a:ext cx="10515600" cy="4686830"/>
          </a:xfrm>
        </p:spPr>
        <p:txBody>
          <a:bodyPr>
            <a:normAutofit/>
          </a:bodyPr>
          <a:lstStyle/>
          <a:p>
            <a:r>
              <a:rPr lang="en-US" dirty="0"/>
              <a:t>There are no formal moderators on SN</a:t>
            </a:r>
          </a:p>
          <a:p>
            <a:endParaRPr lang="en-US" dirty="0"/>
          </a:p>
          <a:p>
            <a:r>
              <a:rPr lang="en-US" dirty="0"/>
              <a:t>Instead, users can “</a:t>
            </a:r>
            <a:r>
              <a:rPr lang="en-US" dirty="0" err="1"/>
              <a:t>downzap</a:t>
            </a:r>
            <a:r>
              <a:rPr lang="en-US" dirty="0"/>
              <a:t>” posts.  A </a:t>
            </a:r>
            <a:r>
              <a:rPr lang="en-US" dirty="0" err="1"/>
              <a:t>downzap</a:t>
            </a:r>
            <a:r>
              <a:rPr lang="en-US" dirty="0"/>
              <a:t> means spending sats to reduce an item’s rank in the default sort order</a:t>
            </a:r>
          </a:p>
          <a:p>
            <a:endParaRPr lang="en-US" dirty="0"/>
          </a:p>
          <a:p>
            <a:r>
              <a:rPr lang="en-US" dirty="0"/>
              <a:t>100% of </a:t>
            </a:r>
            <a:r>
              <a:rPr lang="en-US" dirty="0" err="1"/>
              <a:t>downzaps</a:t>
            </a:r>
            <a:r>
              <a:rPr lang="en-US" dirty="0"/>
              <a:t> go to the rewards pool</a:t>
            </a:r>
          </a:p>
          <a:p>
            <a:endParaRPr lang="en-US" dirty="0"/>
          </a:p>
          <a:p>
            <a:r>
              <a:rPr lang="en-US" dirty="0"/>
              <a:t>Thus, this is a market-based system of content moderation where users pay to reduce the visibility of posts they find offensive</a:t>
            </a:r>
          </a:p>
        </p:txBody>
      </p:sp>
    </p:spTree>
    <p:extLst>
      <p:ext uri="{BB962C8B-B14F-4D97-AF65-F5344CB8AC3E}">
        <p14:creationId xmlns:p14="http://schemas.microsoft.com/office/powerpoint/2010/main" val="2860368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3B816-5CC0-63CB-F61F-DE1A63F527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E9BDD3-544C-B23B-7311-424711B62802}"/>
              </a:ext>
            </a:extLst>
          </p:cNvPr>
          <p:cNvSpPr>
            <a:spLocks noGrp="1"/>
          </p:cNvSpPr>
          <p:nvPr>
            <p:ph type="title"/>
          </p:nvPr>
        </p:nvSpPr>
        <p:spPr>
          <a:xfrm>
            <a:off x="702734" y="164570"/>
            <a:ext cx="10828866" cy="1325563"/>
          </a:xfrm>
        </p:spPr>
        <p:txBody>
          <a:bodyPr>
            <a:normAutofit/>
          </a:bodyPr>
          <a:lstStyle/>
          <a:p>
            <a:r>
              <a:rPr lang="en-US" sz="4000" dirty="0"/>
              <a:t>Hypotheses</a:t>
            </a:r>
          </a:p>
        </p:txBody>
      </p:sp>
      <p:sp>
        <p:nvSpPr>
          <p:cNvPr id="3" name="Content Placeholder 2">
            <a:extLst>
              <a:ext uri="{FF2B5EF4-FFF2-40B4-BE49-F238E27FC236}">
                <a16:creationId xmlns:a16="http://schemas.microsoft.com/office/drawing/2014/main" id="{FF129E39-2B24-30DC-1678-EF725514EE1E}"/>
              </a:ext>
            </a:extLst>
          </p:cNvPr>
          <p:cNvSpPr>
            <a:spLocks noGrp="1"/>
          </p:cNvSpPr>
          <p:nvPr>
            <p:ph idx="1"/>
          </p:nvPr>
        </p:nvSpPr>
        <p:spPr>
          <a:xfrm>
            <a:off x="838200" y="1540933"/>
            <a:ext cx="10515600" cy="4686830"/>
          </a:xfrm>
        </p:spPr>
        <p:txBody>
          <a:bodyPr>
            <a:normAutofit/>
          </a:bodyPr>
          <a:lstStyle/>
          <a:p>
            <a:r>
              <a:rPr lang="en-US" dirty="0"/>
              <a:t>Higher posting costs lead to fewer posts, but higher quality posts</a:t>
            </a:r>
          </a:p>
          <a:p>
            <a:endParaRPr lang="en-US" dirty="0"/>
          </a:p>
          <a:p>
            <a:r>
              <a:rPr lang="en-US" dirty="0"/>
              <a:t>The types of content that are better rewarded by zaps will increase prevalence over time, as users learn that those types of content are better rewarded</a:t>
            </a:r>
          </a:p>
          <a:p>
            <a:endParaRPr lang="en-US" dirty="0"/>
          </a:p>
          <a:p>
            <a:r>
              <a:rPr lang="en-US" dirty="0"/>
              <a:t>Consistently unprofitable users are more likely to leave the platform while consistently profitable users are more likely to stay</a:t>
            </a:r>
          </a:p>
          <a:p>
            <a:endParaRPr lang="en-US" dirty="0"/>
          </a:p>
          <a:p>
            <a:endParaRPr lang="en-US" dirty="0"/>
          </a:p>
        </p:txBody>
      </p:sp>
    </p:spTree>
    <p:extLst>
      <p:ext uri="{BB962C8B-B14F-4D97-AF65-F5344CB8AC3E}">
        <p14:creationId xmlns:p14="http://schemas.microsoft.com/office/powerpoint/2010/main" val="15082911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5A977F-D15B-2865-962C-8E6227A428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BA7C0-E503-9693-4E90-200C73DD8882}"/>
              </a:ext>
            </a:extLst>
          </p:cNvPr>
          <p:cNvSpPr>
            <a:spLocks noGrp="1"/>
          </p:cNvSpPr>
          <p:nvPr>
            <p:ph type="title"/>
          </p:nvPr>
        </p:nvSpPr>
        <p:spPr>
          <a:xfrm>
            <a:off x="702734" y="164570"/>
            <a:ext cx="10828866" cy="1325563"/>
          </a:xfrm>
        </p:spPr>
        <p:txBody>
          <a:bodyPr>
            <a:normAutofit/>
          </a:bodyPr>
          <a:lstStyle/>
          <a:p>
            <a:r>
              <a:rPr lang="en-US" sz="4000" dirty="0"/>
              <a:t>Data</a:t>
            </a:r>
          </a:p>
        </p:txBody>
      </p:sp>
      <p:sp>
        <p:nvSpPr>
          <p:cNvPr id="3" name="Content Placeholder 2">
            <a:extLst>
              <a:ext uri="{FF2B5EF4-FFF2-40B4-BE49-F238E27FC236}">
                <a16:creationId xmlns:a16="http://schemas.microsoft.com/office/drawing/2014/main" id="{22FC00ED-06D8-A866-068A-08C5CB6DCB00}"/>
              </a:ext>
            </a:extLst>
          </p:cNvPr>
          <p:cNvSpPr>
            <a:spLocks noGrp="1"/>
          </p:cNvSpPr>
          <p:nvPr>
            <p:ph idx="1"/>
          </p:nvPr>
        </p:nvSpPr>
        <p:spPr>
          <a:xfrm>
            <a:off x="838200" y="1540933"/>
            <a:ext cx="10515600" cy="4686830"/>
          </a:xfrm>
        </p:spPr>
        <p:txBody>
          <a:bodyPr>
            <a:normAutofit/>
          </a:bodyPr>
          <a:lstStyle/>
          <a:p>
            <a:r>
              <a:rPr lang="en-US" dirty="0"/>
              <a:t>Snapshot of entire database acquired on October 5, 2025</a:t>
            </a:r>
          </a:p>
          <a:p>
            <a:endParaRPr lang="en-US" dirty="0"/>
          </a:p>
          <a:p>
            <a:pPr lvl="1"/>
            <a:r>
              <a:rPr lang="en-US" dirty="0"/>
              <a:t>207,219 posts</a:t>
            </a:r>
          </a:p>
          <a:p>
            <a:pPr lvl="1"/>
            <a:r>
              <a:rPr lang="en-US" dirty="0"/>
              <a:t>914,266 comments</a:t>
            </a:r>
          </a:p>
          <a:p>
            <a:pPr lvl="1"/>
            <a:r>
              <a:rPr lang="en-US" dirty="0"/>
              <a:t>11,228 users</a:t>
            </a:r>
          </a:p>
          <a:p>
            <a:pPr lvl="1"/>
            <a:r>
              <a:rPr lang="en-US" dirty="0"/>
              <a:t>117 territories</a:t>
            </a:r>
          </a:p>
          <a:p>
            <a:pPr lvl="1"/>
            <a:r>
              <a:rPr lang="en-US" dirty="0"/>
              <a:t>146 million sats in zaps</a:t>
            </a:r>
          </a:p>
          <a:p>
            <a:pPr lvl="1"/>
            <a:r>
              <a:rPr lang="en-US" dirty="0"/>
              <a:t>13 million sats in posting fees</a:t>
            </a:r>
          </a:p>
          <a:p>
            <a:endParaRPr lang="en-US" dirty="0"/>
          </a:p>
          <a:p>
            <a:endParaRPr lang="en-US" dirty="0"/>
          </a:p>
        </p:txBody>
      </p:sp>
    </p:spTree>
    <p:extLst>
      <p:ext uri="{BB962C8B-B14F-4D97-AF65-F5344CB8AC3E}">
        <p14:creationId xmlns:p14="http://schemas.microsoft.com/office/powerpoint/2010/main" val="1147971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A0866-8E56-2E61-CE08-73B8B4A315D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9D409C0E-7098-8496-3560-58952ADCA21B}"/>
              </a:ext>
            </a:extLst>
          </p:cNvPr>
          <p:cNvPicPr>
            <a:picLocks noChangeAspect="1"/>
          </p:cNvPicPr>
          <p:nvPr/>
        </p:nvPicPr>
        <p:blipFill>
          <a:blip r:embed="rId3"/>
          <a:stretch>
            <a:fillRect/>
          </a:stretch>
        </p:blipFill>
        <p:spPr>
          <a:xfrm>
            <a:off x="1942681" y="0"/>
            <a:ext cx="8306637" cy="6858000"/>
          </a:xfrm>
          <a:prstGeom prst="rect">
            <a:avLst/>
          </a:prstGeom>
        </p:spPr>
      </p:pic>
    </p:spTree>
    <p:extLst>
      <p:ext uri="{BB962C8B-B14F-4D97-AF65-F5344CB8AC3E}">
        <p14:creationId xmlns:p14="http://schemas.microsoft.com/office/powerpoint/2010/main" val="3049508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93786-C93F-26BF-652A-A7AF58CA77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2A7654-19BC-107F-CB5B-0B68BB7323BA}"/>
              </a:ext>
            </a:extLst>
          </p:cNvPr>
          <p:cNvSpPr>
            <a:spLocks noGrp="1"/>
          </p:cNvSpPr>
          <p:nvPr>
            <p:ph type="title"/>
          </p:nvPr>
        </p:nvSpPr>
        <p:spPr>
          <a:xfrm>
            <a:off x="702734" y="164570"/>
            <a:ext cx="10828866" cy="1325563"/>
          </a:xfrm>
        </p:spPr>
        <p:txBody>
          <a:bodyPr>
            <a:normAutofit/>
          </a:bodyPr>
          <a:lstStyle/>
          <a:p>
            <a:r>
              <a:rPr lang="en-US" sz="4000" dirty="0"/>
              <a:t>Pay-to-Post and Content Quality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33AFF98-1081-3D5D-0ED4-F30C8BF99347}"/>
                  </a:ext>
                </a:extLst>
              </p:cNvPr>
              <p:cNvSpPr>
                <a:spLocks noGrp="1"/>
              </p:cNvSpPr>
              <p:nvPr>
                <p:ph idx="1"/>
              </p:nvPr>
            </p:nvSpPr>
            <p:spPr>
              <a:xfrm>
                <a:off x="838200" y="1540933"/>
                <a:ext cx="10515600" cy="4686830"/>
              </a:xfrm>
            </p:spPr>
            <p:txBody>
              <a:bodyPr>
                <a:normAutofit fontScale="92500" lnSpcReduction="20000"/>
              </a:bodyPr>
              <a:lstStyle/>
              <a:p>
                <a:r>
                  <a:rPr lang="en-US" dirty="0"/>
                  <a:t>Hypothesis: Higher posting costs lead to fewer posts but higher quality posts</a:t>
                </a:r>
              </a:p>
              <a:p>
                <a:endParaRPr lang="en-US" dirty="0"/>
              </a:p>
              <a:p>
                <a:r>
                  <a:rPr lang="en-US" dirty="0"/>
                  <a:t>To investigate, we exploit differential changes in territory posting fees</a:t>
                </a:r>
              </a:p>
              <a:p>
                <a:endParaRPr lang="en-US" dirty="0"/>
              </a:p>
              <a:p>
                <a:r>
                  <a:rPr lang="en-US" dirty="0"/>
                  <a:t>We estimate the following diff-in-diff style regression:</a:t>
                </a:r>
                <a:br>
                  <a:rPr lang="en-US" dirty="0"/>
                </a:br>
                <a:br>
                  <a:rPr lang="en-US" dirty="0"/>
                </a:br>
                <a14:m>
                  <m:oMath xmlns:m="http://schemas.openxmlformats.org/officeDocument/2006/math">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ln</m:t>
                        </m:r>
                      </m:fName>
                      <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Quality</m:t>
                            </m:r>
                          </m:e>
                          <m:sub>
                            <m:r>
                              <a:rPr lang="en-US" b="0" i="1" smtClean="0">
                                <a:latin typeface="Cambria Math" panose="02040503050406030204" pitchFamily="18" charset="0"/>
                              </a:rPr>
                              <m:t>𝑖𝑗𝑡</m:t>
                            </m:r>
                          </m:sub>
                        </m:sSub>
                      </m:e>
                    </m:func>
                    <m:r>
                      <a:rPr lang="en-US" b="0" i="1" smtClean="0">
                        <a:latin typeface="Cambria Math" panose="02040503050406030204" pitchFamily="18" charset="0"/>
                      </a:rPr>
                      <m:t>=</m:t>
                    </m:r>
                    <m:r>
                      <a:rPr lang="en-US" b="0" i="1" smtClean="0">
                        <a:latin typeface="Cambria Math" panose="02040503050406030204" pitchFamily="18" charset="0"/>
                      </a:rPr>
                      <m:t>𝛼</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ln</m:t>
                        </m:r>
                      </m:fName>
                      <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Cost</m:t>
                            </m:r>
                          </m:e>
                          <m:sub>
                            <m:r>
                              <a:rPr lang="en-US" b="0" i="1" smtClean="0">
                                <a:latin typeface="Cambria Math" panose="02040503050406030204" pitchFamily="18" charset="0"/>
                              </a:rPr>
                              <m:t>𝑖𝑗𝑡</m:t>
                            </m:r>
                          </m:sub>
                        </m:sSub>
                      </m:e>
                    </m:fun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𝛿</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𝛾</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𝑖𝑗𝑡</m:t>
                        </m:r>
                      </m:sub>
                    </m:sSub>
                  </m:oMath>
                </a14:m>
                <a:endParaRPr lang="en-US" dirty="0"/>
              </a:p>
              <a:p>
                <a:endParaRPr lang="en-US" dirty="0"/>
              </a:p>
              <a:p>
                <a:r>
                  <a:rPr lang="en-US" dirty="0"/>
                  <a:t>We measure quality in two ways:</a:t>
                </a:r>
              </a:p>
              <a:p>
                <a:pPr lvl="1"/>
                <a:r>
                  <a:rPr lang="en-US" dirty="0"/>
                  <a:t>Zaps earned in the first 48 hours of the post</a:t>
                </a:r>
              </a:p>
              <a:p>
                <a:pPr lvl="1"/>
                <a:r>
                  <a:rPr lang="en-US" dirty="0"/>
                  <a:t>Replies received in the first 48 hours of the post</a:t>
                </a:r>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mc:Choice>
        <mc:Fallback>
          <p:sp>
            <p:nvSpPr>
              <p:cNvPr id="3" name="Content Placeholder 2">
                <a:extLst>
                  <a:ext uri="{FF2B5EF4-FFF2-40B4-BE49-F238E27FC236}">
                    <a16:creationId xmlns:a16="http://schemas.microsoft.com/office/drawing/2014/main" id="{033AFF98-1081-3D5D-0ED4-F30C8BF99347}"/>
                  </a:ext>
                </a:extLst>
              </p:cNvPr>
              <p:cNvSpPr>
                <a:spLocks noGrp="1" noRot="1" noChangeAspect="1" noMove="1" noResize="1" noEditPoints="1" noAdjustHandles="1" noChangeArrowheads="1" noChangeShapeType="1" noTextEdit="1"/>
              </p:cNvSpPr>
              <p:nvPr>
                <p:ph idx="1"/>
              </p:nvPr>
            </p:nvSpPr>
            <p:spPr>
              <a:xfrm>
                <a:off x="838200" y="1540933"/>
                <a:ext cx="10515600" cy="4686830"/>
              </a:xfrm>
              <a:blipFill>
                <a:blip r:embed="rId3"/>
                <a:stretch>
                  <a:fillRect l="-928" t="-3251" r="-464"/>
                </a:stretch>
              </a:blipFill>
            </p:spPr>
            <p:txBody>
              <a:bodyPr/>
              <a:lstStyle/>
              <a:p>
                <a:r>
                  <a:rPr lang="en-US">
                    <a:noFill/>
                  </a:rPr>
                  <a:t> </a:t>
                </a:r>
              </a:p>
            </p:txBody>
          </p:sp>
        </mc:Fallback>
      </mc:AlternateContent>
    </p:spTree>
    <p:extLst>
      <p:ext uri="{BB962C8B-B14F-4D97-AF65-F5344CB8AC3E}">
        <p14:creationId xmlns:p14="http://schemas.microsoft.com/office/powerpoint/2010/main" val="33814056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36F93A2-F435-F1AF-F83C-05C19265450D}"/>
              </a:ext>
            </a:extLst>
          </p:cNvPr>
          <p:cNvPicPr>
            <a:picLocks noChangeAspect="1"/>
          </p:cNvPicPr>
          <p:nvPr/>
        </p:nvPicPr>
        <p:blipFill>
          <a:blip r:embed="rId2"/>
          <a:stretch>
            <a:fillRect/>
          </a:stretch>
        </p:blipFill>
        <p:spPr>
          <a:xfrm>
            <a:off x="1761520" y="156706"/>
            <a:ext cx="8668960" cy="6544588"/>
          </a:xfrm>
          <a:prstGeom prst="rect">
            <a:avLst/>
          </a:prstGeom>
        </p:spPr>
      </p:pic>
    </p:spTree>
    <p:extLst>
      <p:ext uri="{BB962C8B-B14F-4D97-AF65-F5344CB8AC3E}">
        <p14:creationId xmlns:p14="http://schemas.microsoft.com/office/powerpoint/2010/main" val="21981334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ADAB698-24F5-5A18-DD08-A6775D7A4C92}"/>
              </a:ext>
            </a:extLst>
          </p:cNvPr>
          <p:cNvPicPr>
            <a:picLocks noChangeAspect="1"/>
          </p:cNvPicPr>
          <p:nvPr/>
        </p:nvPicPr>
        <p:blipFill>
          <a:blip r:embed="rId3"/>
          <a:stretch>
            <a:fillRect/>
          </a:stretch>
        </p:blipFill>
        <p:spPr>
          <a:xfrm>
            <a:off x="2371205" y="432969"/>
            <a:ext cx="7449590" cy="5992061"/>
          </a:xfrm>
          <a:prstGeom prst="rect">
            <a:avLst/>
          </a:prstGeom>
        </p:spPr>
      </p:pic>
    </p:spTree>
    <p:extLst>
      <p:ext uri="{BB962C8B-B14F-4D97-AF65-F5344CB8AC3E}">
        <p14:creationId xmlns:p14="http://schemas.microsoft.com/office/powerpoint/2010/main" val="8659277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F972E4-CD38-2C9E-8746-F07A3B0D4234}"/>
              </a:ext>
            </a:extLst>
          </p:cNvPr>
          <p:cNvPicPr>
            <a:picLocks noChangeAspect="1"/>
          </p:cNvPicPr>
          <p:nvPr/>
        </p:nvPicPr>
        <p:blipFill>
          <a:blip r:embed="rId3"/>
          <a:stretch>
            <a:fillRect/>
          </a:stretch>
        </p:blipFill>
        <p:spPr>
          <a:xfrm>
            <a:off x="2071126" y="390101"/>
            <a:ext cx="8049748" cy="6077798"/>
          </a:xfrm>
          <a:prstGeom prst="rect">
            <a:avLst/>
          </a:prstGeom>
        </p:spPr>
      </p:pic>
    </p:spTree>
    <p:extLst>
      <p:ext uri="{BB962C8B-B14F-4D97-AF65-F5344CB8AC3E}">
        <p14:creationId xmlns:p14="http://schemas.microsoft.com/office/powerpoint/2010/main" val="31616557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9845D-A9E7-4739-D4B7-541B4757608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7C1D1C-21C2-A2DD-8DB6-23C6545DA4E4}"/>
              </a:ext>
            </a:extLst>
          </p:cNvPr>
          <p:cNvSpPr>
            <a:spLocks noGrp="1"/>
          </p:cNvSpPr>
          <p:nvPr>
            <p:ph idx="1"/>
          </p:nvPr>
        </p:nvSpPr>
        <p:spPr>
          <a:xfrm>
            <a:off x="1936568" y="550250"/>
            <a:ext cx="8318863" cy="5757500"/>
          </a:xfrm>
        </p:spPr>
        <p:txBody>
          <a:bodyPr>
            <a:normAutofit/>
          </a:bodyPr>
          <a:lstStyle/>
          <a:p>
            <a:pPr marL="0" indent="0">
              <a:lnSpc>
                <a:spcPct val="110000"/>
              </a:lnSpc>
              <a:buNone/>
            </a:pPr>
            <a:r>
              <a:rPr lang="en-US" dirty="0"/>
              <a:t>“If I put a lot of effort into a post, I know that the posting fee will be offset by the zaps. And even if it doesn’t, I’m just happy to show the work I’ve done and I’m ready to pay for it. On the other hand, when I share a simple link with a few quick comments and quotes, it takes me a few minutes, and I look for a cheaper territory to post it. If I don’t find any cheap territory, I’d rather not post, as I don’t think paying to post for links is worth the same as paying to post for actual proof-of-work.”</a:t>
            </a:r>
          </a:p>
        </p:txBody>
      </p:sp>
    </p:spTree>
    <p:extLst>
      <p:ext uri="{BB962C8B-B14F-4D97-AF65-F5344CB8AC3E}">
        <p14:creationId xmlns:p14="http://schemas.microsoft.com/office/powerpoint/2010/main" val="36180299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BF96E-9AD8-EE6F-A021-631768C4D7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25278B-E3BD-BC75-2AA9-6C716C3CF998}"/>
              </a:ext>
            </a:extLst>
          </p:cNvPr>
          <p:cNvSpPr>
            <a:spLocks noGrp="1"/>
          </p:cNvSpPr>
          <p:nvPr>
            <p:ph type="title"/>
          </p:nvPr>
        </p:nvSpPr>
        <p:spPr>
          <a:xfrm>
            <a:off x="702734" y="164570"/>
            <a:ext cx="10828866" cy="1325563"/>
          </a:xfrm>
        </p:spPr>
        <p:txBody>
          <a:bodyPr>
            <a:normAutofit/>
          </a:bodyPr>
          <a:lstStyle/>
          <a:p>
            <a:r>
              <a:rPr lang="en-US" sz="4000" dirty="0"/>
              <a:t>Pay-to-Post and Content Quantity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A593A9F-822E-0503-5A68-4531DF53A4C3}"/>
                  </a:ext>
                </a:extLst>
              </p:cNvPr>
              <p:cNvSpPr>
                <a:spLocks noGrp="1"/>
              </p:cNvSpPr>
              <p:nvPr>
                <p:ph idx="1"/>
              </p:nvPr>
            </p:nvSpPr>
            <p:spPr>
              <a:xfrm>
                <a:off x="838200" y="1540933"/>
                <a:ext cx="10515600" cy="4686830"/>
              </a:xfrm>
            </p:spPr>
            <p:txBody>
              <a:bodyPr>
                <a:normAutofit/>
              </a:bodyPr>
              <a:lstStyle/>
              <a:p>
                <a:r>
                  <a:rPr lang="en-US" dirty="0"/>
                  <a:t>To estimate the effect of posting fee on posting quantity, we estimate:</a:t>
                </a:r>
                <a:br>
                  <a:rPr lang="en-US" dirty="0"/>
                </a:br>
                <a:br>
                  <a:rPr lang="en-US" dirty="0"/>
                </a:br>
                <a14:m>
                  <m:oMath xmlns:m="http://schemas.openxmlformats.org/officeDocument/2006/math">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ln</m:t>
                        </m:r>
                      </m:fName>
                      <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Posts</m:t>
                            </m:r>
                          </m:e>
                          <m:sub>
                            <m:r>
                              <a:rPr lang="en-US" b="0" i="1" smtClean="0">
                                <a:latin typeface="Cambria Math" panose="02040503050406030204" pitchFamily="18" charset="0"/>
                              </a:rPr>
                              <m:t>𝑗𝑡</m:t>
                            </m:r>
                          </m:sub>
                        </m:sSub>
                      </m:e>
                    </m:func>
                    <m:r>
                      <a:rPr lang="en-US" b="0" i="1" smtClean="0">
                        <a:latin typeface="Cambria Math" panose="02040503050406030204" pitchFamily="18" charset="0"/>
                      </a:rPr>
                      <m:t>=</m:t>
                    </m:r>
                    <m:r>
                      <a:rPr lang="en-US" b="0" i="1" smtClean="0">
                        <a:latin typeface="Cambria Math" panose="02040503050406030204" pitchFamily="18" charset="0"/>
                      </a:rPr>
                      <m:t>𝛼</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ln</m:t>
                        </m:r>
                      </m:fName>
                      <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Cost</m:t>
                            </m:r>
                          </m:e>
                          <m:sub>
                            <m:r>
                              <a:rPr lang="en-US" b="0" i="1" smtClean="0">
                                <a:latin typeface="Cambria Math" panose="02040503050406030204" pitchFamily="18" charset="0"/>
                              </a:rPr>
                              <m:t>𝑗𝑡</m:t>
                            </m:r>
                          </m:sub>
                        </m:sSub>
                      </m:e>
                    </m:fun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𝛿</m:t>
                        </m:r>
                      </m:e>
                      <m:sub>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𝛾</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𝑗𝑡</m:t>
                        </m:r>
                      </m:sub>
                    </m:sSub>
                  </m:oMath>
                </a14:m>
                <a:endParaRPr lang="en-US" dirty="0"/>
              </a:p>
              <a:p>
                <a:endParaRPr lang="en-US" dirty="0"/>
              </a:p>
            </p:txBody>
          </p:sp>
        </mc:Choice>
        <mc:Fallback>
          <p:sp>
            <p:nvSpPr>
              <p:cNvPr id="3" name="Content Placeholder 2">
                <a:extLst>
                  <a:ext uri="{FF2B5EF4-FFF2-40B4-BE49-F238E27FC236}">
                    <a16:creationId xmlns:a16="http://schemas.microsoft.com/office/drawing/2014/main" id="{6A593A9F-822E-0503-5A68-4531DF53A4C3}"/>
                  </a:ext>
                </a:extLst>
              </p:cNvPr>
              <p:cNvSpPr>
                <a:spLocks noGrp="1" noRot="1" noChangeAspect="1" noMove="1" noResize="1" noEditPoints="1" noAdjustHandles="1" noChangeArrowheads="1" noChangeShapeType="1" noTextEdit="1"/>
              </p:cNvSpPr>
              <p:nvPr>
                <p:ph idx="1"/>
              </p:nvPr>
            </p:nvSpPr>
            <p:spPr>
              <a:xfrm>
                <a:off x="838200" y="1540933"/>
                <a:ext cx="10515600" cy="4686830"/>
              </a:xfrm>
              <a:blipFill>
                <a:blip r:embed="rId3"/>
                <a:stretch>
                  <a:fillRect l="-1043" t="-2341"/>
                </a:stretch>
              </a:blipFill>
            </p:spPr>
            <p:txBody>
              <a:bodyPr/>
              <a:lstStyle/>
              <a:p>
                <a:r>
                  <a:rPr lang="en-US">
                    <a:noFill/>
                  </a:rPr>
                  <a:t> </a:t>
                </a:r>
              </a:p>
            </p:txBody>
          </p:sp>
        </mc:Fallback>
      </mc:AlternateContent>
    </p:spTree>
    <p:extLst>
      <p:ext uri="{BB962C8B-B14F-4D97-AF65-F5344CB8AC3E}">
        <p14:creationId xmlns:p14="http://schemas.microsoft.com/office/powerpoint/2010/main" val="14105333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8E782D9-05C2-269E-691C-C30482CB846D}"/>
              </a:ext>
            </a:extLst>
          </p:cNvPr>
          <p:cNvPicPr>
            <a:picLocks noChangeAspect="1"/>
          </p:cNvPicPr>
          <p:nvPr/>
        </p:nvPicPr>
        <p:blipFill>
          <a:blip r:embed="rId3"/>
          <a:stretch>
            <a:fillRect/>
          </a:stretch>
        </p:blipFill>
        <p:spPr>
          <a:xfrm>
            <a:off x="1961573" y="375811"/>
            <a:ext cx="8268854" cy="6106377"/>
          </a:xfrm>
          <a:prstGeom prst="rect">
            <a:avLst/>
          </a:prstGeom>
        </p:spPr>
      </p:pic>
    </p:spTree>
    <p:extLst>
      <p:ext uri="{BB962C8B-B14F-4D97-AF65-F5344CB8AC3E}">
        <p14:creationId xmlns:p14="http://schemas.microsoft.com/office/powerpoint/2010/main" val="10315037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9B17D-72AB-291D-1173-F2F642E416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2F5CF5-7CE2-DA9A-BD6D-E3DB1E7B6B41}"/>
              </a:ext>
            </a:extLst>
          </p:cNvPr>
          <p:cNvSpPr>
            <a:spLocks noGrp="1"/>
          </p:cNvSpPr>
          <p:nvPr>
            <p:ph type="title"/>
          </p:nvPr>
        </p:nvSpPr>
        <p:spPr>
          <a:xfrm>
            <a:off x="702734" y="164570"/>
            <a:ext cx="10828866" cy="1325563"/>
          </a:xfrm>
        </p:spPr>
        <p:txBody>
          <a:bodyPr>
            <a:normAutofit/>
          </a:bodyPr>
          <a:lstStyle/>
          <a:p>
            <a:r>
              <a:rPr lang="en-US" sz="4000" dirty="0"/>
              <a:t>Pay-to-Post and Content Quality/Quantity</a:t>
            </a:r>
          </a:p>
        </p:txBody>
      </p:sp>
      <p:sp>
        <p:nvSpPr>
          <p:cNvPr id="3" name="Content Placeholder 2">
            <a:extLst>
              <a:ext uri="{FF2B5EF4-FFF2-40B4-BE49-F238E27FC236}">
                <a16:creationId xmlns:a16="http://schemas.microsoft.com/office/drawing/2014/main" id="{E83FFCFC-B7CE-1C6C-72C9-3B0996B67A12}"/>
              </a:ext>
            </a:extLst>
          </p:cNvPr>
          <p:cNvSpPr>
            <a:spLocks noGrp="1"/>
          </p:cNvSpPr>
          <p:nvPr>
            <p:ph idx="1"/>
          </p:nvPr>
        </p:nvSpPr>
        <p:spPr>
          <a:xfrm>
            <a:off x="838200" y="1540933"/>
            <a:ext cx="10515600" cy="4686830"/>
          </a:xfrm>
        </p:spPr>
        <p:txBody>
          <a:bodyPr>
            <a:normAutofit/>
          </a:bodyPr>
          <a:lstStyle/>
          <a:p>
            <a:r>
              <a:rPr lang="en-US" dirty="0"/>
              <a:t>Results indicate that:</a:t>
            </a:r>
          </a:p>
          <a:p>
            <a:pPr lvl="1"/>
            <a:r>
              <a:rPr lang="en-US" sz="2800" dirty="0"/>
              <a:t>Higher posting fees lead to higher quality posts</a:t>
            </a:r>
          </a:p>
          <a:p>
            <a:pPr lvl="1"/>
            <a:r>
              <a:rPr lang="en-US" sz="2800" dirty="0"/>
              <a:t>Higher posting fees lead to fewer posts</a:t>
            </a:r>
          </a:p>
          <a:p>
            <a:pPr lvl="1"/>
            <a:endParaRPr lang="en-US" sz="2800" dirty="0"/>
          </a:p>
          <a:p>
            <a:r>
              <a:rPr lang="en-US" dirty="0"/>
              <a:t>Surprising and not surprising:</a:t>
            </a:r>
          </a:p>
          <a:p>
            <a:pPr lvl="1"/>
            <a:r>
              <a:rPr lang="en-US" sz="2800" dirty="0"/>
              <a:t>Not surprising: demand curve slopes downwards</a:t>
            </a:r>
          </a:p>
          <a:p>
            <a:pPr lvl="1"/>
            <a:r>
              <a:rPr lang="en-US" sz="2800" dirty="0"/>
              <a:t>Surprising: Micro-incentives on the order of a few cents to a few dollars is enough to drive detectable behavior on discussion platforms</a:t>
            </a:r>
          </a:p>
          <a:p>
            <a:endParaRPr lang="en-US" dirty="0"/>
          </a:p>
        </p:txBody>
      </p:sp>
    </p:spTree>
    <p:extLst>
      <p:ext uri="{BB962C8B-B14F-4D97-AF65-F5344CB8AC3E}">
        <p14:creationId xmlns:p14="http://schemas.microsoft.com/office/powerpoint/2010/main" val="3547918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293C2-D161-BEF9-8244-B3EB88B555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B88D2F-EFF0-E76D-910F-D9D2EBF24F67}"/>
              </a:ext>
            </a:extLst>
          </p:cNvPr>
          <p:cNvSpPr>
            <a:spLocks noGrp="1"/>
          </p:cNvSpPr>
          <p:nvPr>
            <p:ph type="title"/>
          </p:nvPr>
        </p:nvSpPr>
        <p:spPr>
          <a:xfrm>
            <a:off x="702734" y="164570"/>
            <a:ext cx="10828866" cy="1325563"/>
          </a:xfrm>
        </p:spPr>
        <p:txBody>
          <a:bodyPr>
            <a:normAutofit/>
          </a:bodyPr>
          <a:lstStyle/>
          <a:p>
            <a:r>
              <a:rPr lang="en-US" sz="4000" dirty="0"/>
              <a:t>Value-for-value and Content Quality</a:t>
            </a:r>
          </a:p>
        </p:txBody>
      </p:sp>
      <p:sp>
        <p:nvSpPr>
          <p:cNvPr id="3" name="Content Placeholder 2">
            <a:extLst>
              <a:ext uri="{FF2B5EF4-FFF2-40B4-BE49-F238E27FC236}">
                <a16:creationId xmlns:a16="http://schemas.microsoft.com/office/drawing/2014/main" id="{F94C8C67-1F39-D8D5-D677-B8780933A075}"/>
              </a:ext>
            </a:extLst>
          </p:cNvPr>
          <p:cNvSpPr>
            <a:spLocks noGrp="1"/>
          </p:cNvSpPr>
          <p:nvPr>
            <p:ph idx="1"/>
          </p:nvPr>
        </p:nvSpPr>
        <p:spPr>
          <a:xfrm>
            <a:off x="838200" y="1540933"/>
            <a:ext cx="10515600" cy="4686830"/>
          </a:xfrm>
        </p:spPr>
        <p:txBody>
          <a:bodyPr>
            <a:normAutofit/>
          </a:bodyPr>
          <a:lstStyle/>
          <a:p>
            <a:r>
              <a:rPr lang="en-US" dirty="0"/>
              <a:t>Hypothesis: the types of content that are better rewarded will increase in prevalence over time as users learn that these kinds of content are better rewarded.</a:t>
            </a:r>
          </a:p>
          <a:p>
            <a:endParaRPr lang="en-US" dirty="0"/>
          </a:p>
          <a:p>
            <a:r>
              <a:rPr lang="en-US" dirty="0"/>
              <a:t>First, we need an objective measure of content quality based only on post attributes (and not on ex-post user behavior)</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2829648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AEDE14E-F5ED-1D8C-75BE-2590D15E7F13}"/>
              </a:ext>
            </a:extLst>
          </p:cNvPr>
          <p:cNvPicPr>
            <a:picLocks noChangeAspect="1"/>
          </p:cNvPicPr>
          <p:nvPr/>
        </p:nvPicPr>
        <p:blipFill>
          <a:blip r:embed="rId2"/>
          <a:stretch>
            <a:fillRect/>
          </a:stretch>
        </p:blipFill>
        <p:spPr>
          <a:xfrm>
            <a:off x="1790099" y="113837"/>
            <a:ext cx="8611802" cy="6630325"/>
          </a:xfrm>
          <a:prstGeom prst="rect">
            <a:avLst/>
          </a:prstGeom>
        </p:spPr>
      </p:pic>
    </p:spTree>
    <p:extLst>
      <p:ext uri="{BB962C8B-B14F-4D97-AF65-F5344CB8AC3E}">
        <p14:creationId xmlns:p14="http://schemas.microsoft.com/office/powerpoint/2010/main" val="33393382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C4B7F-420D-B157-2093-6584C76A5F2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504A132-898E-8BA0-6DA1-89C1DA5AD117}"/>
              </a:ext>
            </a:extLst>
          </p:cNvPr>
          <p:cNvPicPr>
            <a:picLocks noChangeAspect="1"/>
          </p:cNvPicPr>
          <p:nvPr/>
        </p:nvPicPr>
        <p:blipFill>
          <a:blip r:embed="rId2"/>
          <a:stretch>
            <a:fillRect/>
          </a:stretch>
        </p:blipFill>
        <p:spPr>
          <a:xfrm>
            <a:off x="1790099" y="113837"/>
            <a:ext cx="8611802" cy="6630325"/>
          </a:xfrm>
          <a:prstGeom prst="rect">
            <a:avLst/>
          </a:prstGeom>
        </p:spPr>
      </p:pic>
      <p:sp>
        <p:nvSpPr>
          <p:cNvPr id="2" name="Rectangle 1">
            <a:extLst>
              <a:ext uri="{FF2B5EF4-FFF2-40B4-BE49-F238E27FC236}">
                <a16:creationId xmlns:a16="http://schemas.microsoft.com/office/drawing/2014/main" id="{ECA45483-BCC7-1895-7F65-5E429EDD319B}"/>
              </a:ext>
            </a:extLst>
          </p:cNvPr>
          <p:cNvSpPr/>
          <p:nvPr/>
        </p:nvSpPr>
        <p:spPr>
          <a:xfrm>
            <a:off x="8556171" y="2521131"/>
            <a:ext cx="1672046" cy="3187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762906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35CAA75-E582-8281-03C4-C82DC4C7C541}"/>
              </a:ext>
            </a:extLst>
          </p:cNvPr>
          <p:cNvPicPr>
            <a:picLocks noChangeAspect="1"/>
          </p:cNvPicPr>
          <p:nvPr/>
        </p:nvPicPr>
        <p:blipFill>
          <a:blip r:embed="rId2"/>
          <a:stretch>
            <a:fillRect/>
          </a:stretch>
        </p:blipFill>
        <p:spPr>
          <a:xfrm>
            <a:off x="2192599" y="0"/>
            <a:ext cx="7806801" cy="6858000"/>
          </a:xfrm>
          <a:prstGeom prst="rect">
            <a:avLst/>
          </a:prstGeom>
        </p:spPr>
      </p:pic>
    </p:spTree>
    <p:extLst>
      <p:ext uri="{BB962C8B-B14F-4D97-AF65-F5344CB8AC3E}">
        <p14:creationId xmlns:p14="http://schemas.microsoft.com/office/powerpoint/2010/main" val="2345674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73935-0403-4980-D9EF-2AD5525CB9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D6F158-EF09-9641-C090-8E72D5EC61BD}"/>
              </a:ext>
            </a:extLst>
          </p:cNvPr>
          <p:cNvSpPr>
            <a:spLocks noGrp="1"/>
          </p:cNvSpPr>
          <p:nvPr>
            <p:ph type="title"/>
          </p:nvPr>
        </p:nvSpPr>
        <p:spPr>
          <a:xfrm>
            <a:off x="702734" y="164570"/>
            <a:ext cx="10828866" cy="1325563"/>
          </a:xfrm>
        </p:spPr>
        <p:txBody>
          <a:bodyPr>
            <a:normAutofit/>
          </a:bodyPr>
          <a:lstStyle/>
          <a:p>
            <a:r>
              <a:rPr lang="en-US" sz="4000" dirty="0"/>
              <a:t>Do users learn from zaps?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5966CFF-459A-C264-ACFD-1B96AF210C3E}"/>
                  </a:ext>
                </a:extLst>
              </p:cNvPr>
              <p:cNvSpPr>
                <a:spLocks noGrp="1"/>
              </p:cNvSpPr>
              <p:nvPr>
                <p:ph idx="1"/>
              </p:nvPr>
            </p:nvSpPr>
            <p:spPr>
              <a:xfrm>
                <a:off x="838200" y="1540933"/>
                <a:ext cx="10515600" cy="4686830"/>
              </a:xfrm>
            </p:spPr>
            <p:txBody>
              <a:bodyPr>
                <a:normAutofit/>
              </a:bodyPr>
              <a:lstStyle/>
              <a:p>
                <a:r>
                  <a:rPr lang="en-US" dirty="0"/>
                  <a:t>We test whether users who got zapped more for prior high quality posts are more likely to subsequently make high quality posts:</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HighQuality</m:t>
                        </m:r>
                      </m:e>
                      <m:sub>
                        <m:r>
                          <a:rPr lang="en-US" b="0" i="1" smtClean="0">
                            <a:latin typeface="Cambria Math" panose="02040503050406030204" pitchFamily="18" charset="0"/>
                          </a:rPr>
                          <m:t>𝑖𝑗𝑡</m:t>
                        </m:r>
                      </m:sub>
                    </m:sSub>
                    <m:r>
                      <a:rPr lang="en-US" b="0" i="0" smtClean="0">
                        <a:latin typeface="Cambria Math" panose="02040503050406030204" pitchFamily="18" charset="0"/>
                      </a:rPr>
                      <m:t>=</m:t>
                    </m:r>
                    <m:r>
                      <a:rPr lang="en-US" b="0" i="1" smtClean="0">
                        <a:latin typeface="Cambria Math" panose="02040503050406030204" pitchFamily="18" charset="0"/>
                      </a:rPr>
                      <m:t>𝛼</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HQShare</m:t>
                        </m:r>
                      </m:e>
                      <m:sub>
                        <m:r>
                          <a:rPr lang="en-US" b="0" i="1" smtClean="0">
                            <a:latin typeface="Cambria Math" panose="02040503050406030204" pitchFamily="18" charset="0"/>
                          </a:rPr>
                          <m:t>𝑖𝑗𝑡</m:t>
                        </m:r>
                      </m:sub>
                    </m:sSub>
                    <m:r>
                      <a:rPr lang="en-US" b="0" i="0" smtClean="0">
                        <a:latin typeface="Cambria Math" panose="02040503050406030204" pitchFamily="18" charset="0"/>
                      </a:rPr>
                      <m:t>+</m:t>
                    </m:r>
                    <m:sSub>
                      <m:sSubPr>
                        <m:ctrlPr>
                          <a:rPr lang="en-US" b="1" i="0" smtClean="0">
                            <a:latin typeface="Cambria Math" panose="02040503050406030204" pitchFamily="18" charset="0"/>
                          </a:rPr>
                        </m:ctrlPr>
                      </m:sSubPr>
                      <m:e>
                        <m:r>
                          <a:rPr lang="en-US" b="1" i="0" smtClean="0">
                            <a:latin typeface="Cambria Math" panose="02040503050406030204" pitchFamily="18" charset="0"/>
                          </a:rPr>
                          <m:t>𝐗</m:t>
                        </m:r>
                      </m:e>
                      <m:sub>
                        <m:r>
                          <a:rPr lang="en-US" b="0" i="1" smtClean="0">
                            <a:latin typeface="Cambria Math" panose="02040503050406030204" pitchFamily="18" charset="0"/>
                          </a:rPr>
                          <m:t>𝑖𝑗𝑡</m:t>
                        </m:r>
                      </m:sub>
                    </m:sSub>
                    <m:r>
                      <a:rPr lang="en-US" b="0" i="1" smtClean="0">
                        <a:latin typeface="Cambria Math" panose="02040503050406030204" pitchFamily="18" charset="0"/>
                      </a:rPr>
                      <m:t>𝛽</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𝑖𝑗𝑡</m:t>
                        </m:r>
                      </m:sub>
                    </m:sSub>
                  </m:oMath>
                </a14:m>
                <a:endParaRPr lang="en-US" dirty="0"/>
              </a:p>
              <a:p>
                <a:endParaRPr lang="en-US" dirty="0"/>
              </a:p>
              <a:p>
                <a:r>
                  <a:rPr lang="en-US" dirty="0"/>
                  <a:t>In </a:t>
                </a:r>
                <a14:m>
                  <m:oMath xmlns:m="http://schemas.openxmlformats.org/officeDocument/2006/math">
                    <m:r>
                      <a:rPr lang="en-US" b="1" i="1" smtClean="0">
                        <a:latin typeface="Cambria Math" panose="02040503050406030204" pitchFamily="18" charset="0"/>
                      </a:rPr>
                      <m:t>𝑿</m:t>
                    </m:r>
                  </m:oMath>
                </a14:m>
                <a:r>
                  <a:rPr lang="en-US" dirty="0"/>
                  <a:t>, we control for:</a:t>
                </a:r>
              </a:p>
              <a:p>
                <a:pPr lvl="1"/>
                <a:r>
                  <a:rPr lang="en-US" dirty="0"/>
                  <a:t>Total amount of prior zaps</a:t>
                </a:r>
              </a:p>
              <a:p>
                <a:pPr lvl="1"/>
                <a:r>
                  <a:rPr lang="en-US" dirty="0"/>
                  <a:t>Share of user’s prior posts that were high quality</a:t>
                </a:r>
              </a:p>
              <a:p>
                <a:pPr lvl="1"/>
                <a:r>
                  <a:rPr lang="en-US" dirty="0"/>
                  <a:t>Number of prior posts</a:t>
                </a:r>
              </a:p>
              <a:p>
                <a:pPr lvl="1"/>
                <a:r>
                  <a:rPr lang="en-US" dirty="0"/>
                  <a:t>Week fixed effects</a:t>
                </a:r>
              </a:p>
            </p:txBody>
          </p:sp>
        </mc:Choice>
        <mc:Fallback>
          <p:sp>
            <p:nvSpPr>
              <p:cNvPr id="3" name="Content Placeholder 2">
                <a:extLst>
                  <a:ext uri="{FF2B5EF4-FFF2-40B4-BE49-F238E27FC236}">
                    <a16:creationId xmlns:a16="http://schemas.microsoft.com/office/drawing/2014/main" id="{F5966CFF-459A-C264-ACFD-1B96AF210C3E}"/>
                  </a:ext>
                </a:extLst>
              </p:cNvPr>
              <p:cNvSpPr>
                <a:spLocks noGrp="1" noRot="1" noChangeAspect="1" noMove="1" noResize="1" noEditPoints="1" noAdjustHandles="1" noChangeArrowheads="1" noChangeShapeType="1" noTextEdit="1"/>
              </p:cNvSpPr>
              <p:nvPr>
                <p:ph idx="1"/>
              </p:nvPr>
            </p:nvSpPr>
            <p:spPr>
              <a:xfrm>
                <a:off x="838200" y="1540933"/>
                <a:ext cx="10515600" cy="4686830"/>
              </a:xfrm>
              <a:blipFill>
                <a:blip r:embed="rId3"/>
                <a:stretch>
                  <a:fillRect l="-1043" t="-2341"/>
                </a:stretch>
              </a:blipFill>
            </p:spPr>
            <p:txBody>
              <a:bodyPr/>
              <a:lstStyle/>
              <a:p>
                <a:r>
                  <a:rPr lang="en-US">
                    <a:noFill/>
                  </a:rPr>
                  <a:t> </a:t>
                </a:r>
              </a:p>
            </p:txBody>
          </p:sp>
        </mc:Fallback>
      </mc:AlternateContent>
    </p:spTree>
    <p:extLst>
      <p:ext uri="{BB962C8B-B14F-4D97-AF65-F5344CB8AC3E}">
        <p14:creationId xmlns:p14="http://schemas.microsoft.com/office/powerpoint/2010/main" val="34748281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C54A8-5542-7D9D-784A-9E2716AA3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11DEA3-D1F4-F0DF-C810-E0FCCEE66064}"/>
              </a:ext>
            </a:extLst>
          </p:cNvPr>
          <p:cNvSpPr>
            <a:spLocks noGrp="1"/>
          </p:cNvSpPr>
          <p:nvPr>
            <p:ph type="title"/>
          </p:nvPr>
        </p:nvSpPr>
        <p:spPr>
          <a:xfrm>
            <a:off x="702734" y="164570"/>
            <a:ext cx="10828866" cy="1325563"/>
          </a:xfrm>
        </p:spPr>
        <p:txBody>
          <a:bodyPr>
            <a:normAutofit/>
          </a:bodyPr>
          <a:lstStyle/>
          <a:p>
            <a:r>
              <a:rPr lang="en-US" sz="4000" dirty="0"/>
              <a:t>Value-for-value and Content Quality</a:t>
            </a:r>
          </a:p>
        </p:txBody>
      </p:sp>
      <p:sp>
        <p:nvSpPr>
          <p:cNvPr id="3" name="Content Placeholder 2">
            <a:extLst>
              <a:ext uri="{FF2B5EF4-FFF2-40B4-BE49-F238E27FC236}">
                <a16:creationId xmlns:a16="http://schemas.microsoft.com/office/drawing/2014/main" id="{66F89808-AC1F-9FA0-DC88-EF2B66AE0766}"/>
              </a:ext>
            </a:extLst>
          </p:cNvPr>
          <p:cNvSpPr>
            <a:spLocks noGrp="1"/>
          </p:cNvSpPr>
          <p:nvPr>
            <p:ph idx="1"/>
          </p:nvPr>
        </p:nvSpPr>
        <p:spPr>
          <a:xfrm>
            <a:off x="838200" y="1540933"/>
            <a:ext cx="10515600" cy="4686830"/>
          </a:xfrm>
        </p:spPr>
        <p:txBody>
          <a:bodyPr>
            <a:normAutofit/>
          </a:bodyPr>
          <a:lstStyle/>
          <a:p>
            <a:r>
              <a:rPr lang="en-US" dirty="0"/>
              <a:t>The prevalence of high quality posts is growing over time on SN</a:t>
            </a:r>
          </a:p>
          <a:p>
            <a:endParaRPr lang="en-US" dirty="0"/>
          </a:p>
          <a:p>
            <a:r>
              <a:rPr lang="en-US" dirty="0"/>
              <a:t>Users who have previously earned more on high quality posts are more likely to subsequently make high quality posts (even while controlling for previous posting history)</a:t>
            </a:r>
          </a:p>
          <a:p>
            <a:endParaRPr lang="en-US" dirty="0"/>
          </a:p>
          <a:p>
            <a:r>
              <a:rPr lang="en-US" dirty="0"/>
              <a:t>Evidence of learning about preferences and the tailoring of content to what other users like</a:t>
            </a:r>
          </a:p>
        </p:txBody>
      </p:sp>
    </p:spTree>
    <p:extLst>
      <p:ext uri="{BB962C8B-B14F-4D97-AF65-F5344CB8AC3E}">
        <p14:creationId xmlns:p14="http://schemas.microsoft.com/office/powerpoint/2010/main" val="8794244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ADB677-6988-DC84-0B81-00FB83686D20}"/>
              </a:ext>
            </a:extLst>
          </p:cNvPr>
          <p:cNvPicPr>
            <a:picLocks noChangeAspect="1"/>
          </p:cNvPicPr>
          <p:nvPr/>
        </p:nvPicPr>
        <p:blipFill>
          <a:blip r:embed="rId3"/>
          <a:stretch>
            <a:fillRect/>
          </a:stretch>
        </p:blipFill>
        <p:spPr>
          <a:xfrm>
            <a:off x="2183002" y="0"/>
            <a:ext cx="7825995" cy="6858000"/>
          </a:xfrm>
          <a:prstGeom prst="rect">
            <a:avLst/>
          </a:prstGeom>
        </p:spPr>
      </p:pic>
    </p:spTree>
    <p:extLst>
      <p:ext uri="{BB962C8B-B14F-4D97-AF65-F5344CB8AC3E}">
        <p14:creationId xmlns:p14="http://schemas.microsoft.com/office/powerpoint/2010/main" val="41583411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C8D60-60CC-07AE-E563-60382902C5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1E45A0-C23B-C6C5-A75F-1DEB418A0049}"/>
              </a:ext>
            </a:extLst>
          </p:cNvPr>
          <p:cNvSpPr>
            <a:spLocks noGrp="1"/>
          </p:cNvSpPr>
          <p:nvPr>
            <p:ph type="title"/>
          </p:nvPr>
        </p:nvSpPr>
        <p:spPr>
          <a:xfrm>
            <a:off x="702734" y="164570"/>
            <a:ext cx="10828866" cy="1325563"/>
          </a:xfrm>
        </p:spPr>
        <p:txBody>
          <a:bodyPr>
            <a:normAutofit/>
          </a:bodyPr>
          <a:lstStyle/>
          <a:p>
            <a:r>
              <a:rPr lang="en-US" sz="4000" dirty="0"/>
              <a:t>Profitability and User Retention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6C794A8-13DF-94EE-A376-EF983A96C103}"/>
                  </a:ext>
                </a:extLst>
              </p:cNvPr>
              <p:cNvSpPr>
                <a:spLocks noGrp="1"/>
              </p:cNvSpPr>
              <p:nvPr>
                <p:ph idx="1"/>
              </p:nvPr>
            </p:nvSpPr>
            <p:spPr>
              <a:xfrm>
                <a:off x="838200" y="1540933"/>
                <a:ext cx="10515600" cy="4686830"/>
              </a:xfrm>
            </p:spPr>
            <p:txBody>
              <a:bodyPr>
                <a:normAutofit/>
              </a:bodyPr>
              <a:lstStyle/>
              <a:p>
                <a:r>
                  <a:rPr lang="en-US" dirty="0"/>
                  <a:t>Hypothesis: Unprofitable users are more likely to leave the platform, and profitable users are more likely to stay</a:t>
                </a:r>
              </a:p>
              <a:p>
                <a:endParaRPr lang="en-US" dirty="0"/>
              </a:p>
              <a:p>
                <a:r>
                  <a:rPr lang="en-US" dirty="0"/>
                  <a:t>We estimate probability of going inactive (defined as 4+ consecutive weeks of inactivity) as a function of profitability over the last 8 weeks, and growth in the bitcoin price:</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Inactive</m:t>
                        </m:r>
                      </m:e>
                      <m:sub>
                        <m:r>
                          <a:rPr lang="en-US" b="0" i="1" smtClean="0">
                            <a:latin typeface="Cambria Math" panose="02040503050406030204" pitchFamily="18" charset="0"/>
                          </a:rPr>
                          <m:t>𝑖𝑡</m:t>
                        </m:r>
                      </m:sub>
                    </m:sSub>
                    <m:r>
                      <a:rPr lang="en-US" b="0" i="1" smtClean="0">
                        <a:latin typeface="Cambria Math" panose="02040503050406030204" pitchFamily="18" charset="0"/>
                      </a:rPr>
                      <m:t>=</m:t>
                    </m:r>
                    <m:r>
                      <a:rPr lang="en-US" b="0" i="1" smtClean="0">
                        <a:latin typeface="Cambria Math" panose="02040503050406030204" pitchFamily="18" charset="0"/>
                      </a:rPr>
                      <m:t>𝛼</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Unprofitable</m:t>
                        </m:r>
                      </m:e>
                      <m:sub>
                        <m:r>
                          <a:rPr lang="en-US" b="0" i="1" smtClean="0">
                            <a:latin typeface="Cambria Math" panose="02040503050406030204" pitchFamily="18" charset="0"/>
                          </a:rPr>
                          <m:t>𝑖𝑡</m:t>
                        </m:r>
                      </m:sub>
                    </m:sSub>
                    <m:r>
                      <a:rPr lang="en-US" b="0" i="1" smtClean="0">
                        <a:latin typeface="Cambria Math" panose="02040503050406030204" pitchFamily="18" charset="0"/>
                      </a:rPr>
                      <m:t>+</m:t>
                    </m:r>
                    <m:r>
                      <a:rPr lang="en-US" b="0" i="1" smtClean="0">
                        <a:latin typeface="Cambria Math" panose="02040503050406030204" pitchFamily="18" charset="0"/>
                      </a:rPr>
                      <m:t>𝛽</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Unprofitable</m:t>
                        </m:r>
                      </m:e>
                      <m:sub>
                        <m:r>
                          <a:rPr lang="en-US" b="0" i="1" smtClean="0">
                            <a:latin typeface="Cambria Math" panose="02040503050406030204" pitchFamily="18" charset="0"/>
                          </a:rPr>
                          <m:t>𝑖𝑡</m:t>
                        </m:r>
                      </m:sub>
                    </m:sSub>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Growth</m:t>
                        </m:r>
                      </m:e>
                      <m:sub>
                        <m:r>
                          <a:rPr lang="en-US" b="0" i="1" smtClean="0">
                            <a:latin typeface="Cambria Math" panose="02040503050406030204" pitchFamily="18" charset="0"/>
                          </a:rPr>
                          <m:t>𝑡</m:t>
                        </m:r>
                      </m:sub>
                    </m:sSub>
                  </m:oMath>
                </a14:m>
                <a:br>
                  <a:rPr lang="en-US" b="0" dirty="0"/>
                </a:br>
                <a14:m>
                  <m:oMath xmlns:m="http://schemas.openxmlformats.org/officeDocument/2006/math">
                    <m:r>
                      <a:rPr lang="en-US" b="0" i="0" smtClean="0">
                        <a:latin typeface="Cambria Math" panose="02040503050406030204" pitchFamily="18" charset="0"/>
                      </a:rPr>
                      <m:t>                         </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𝛾</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𝜖</m:t>
                        </m:r>
                      </m:e>
                      <m:sub>
                        <m:r>
                          <a:rPr lang="en-US" b="0" i="1" smtClean="0">
                            <a:latin typeface="Cambria Math" panose="02040503050406030204" pitchFamily="18" charset="0"/>
                          </a:rPr>
                          <m:t>𝑖𝑡</m:t>
                        </m:r>
                      </m:sub>
                    </m:sSub>
                  </m:oMath>
                </a14:m>
                <a:endParaRPr lang="en-US" dirty="0"/>
              </a:p>
            </p:txBody>
          </p:sp>
        </mc:Choice>
        <mc:Fallback>
          <p:sp>
            <p:nvSpPr>
              <p:cNvPr id="3" name="Content Placeholder 2">
                <a:extLst>
                  <a:ext uri="{FF2B5EF4-FFF2-40B4-BE49-F238E27FC236}">
                    <a16:creationId xmlns:a16="http://schemas.microsoft.com/office/drawing/2014/main" id="{D6C794A8-13DF-94EE-A376-EF983A96C103}"/>
                  </a:ext>
                </a:extLst>
              </p:cNvPr>
              <p:cNvSpPr>
                <a:spLocks noGrp="1" noRot="1" noChangeAspect="1" noMove="1" noResize="1" noEditPoints="1" noAdjustHandles="1" noChangeArrowheads="1" noChangeShapeType="1" noTextEdit="1"/>
              </p:cNvSpPr>
              <p:nvPr>
                <p:ph idx="1"/>
              </p:nvPr>
            </p:nvSpPr>
            <p:spPr>
              <a:xfrm>
                <a:off x="838200" y="1540933"/>
                <a:ext cx="10515600" cy="4686830"/>
              </a:xfrm>
              <a:blipFill>
                <a:blip r:embed="rId3"/>
                <a:stretch>
                  <a:fillRect l="-1043" t="-2341"/>
                </a:stretch>
              </a:blipFill>
            </p:spPr>
            <p:txBody>
              <a:bodyPr/>
              <a:lstStyle/>
              <a:p>
                <a:r>
                  <a:rPr lang="en-US">
                    <a:noFill/>
                  </a:rPr>
                  <a:t> </a:t>
                </a:r>
              </a:p>
            </p:txBody>
          </p:sp>
        </mc:Fallback>
      </mc:AlternateContent>
    </p:spTree>
    <p:extLst>
      <p:ext uri="{BB962C8B-B14F-4D97-AF65-F5344CB8AC3E}">
        <p14:creationId xmlns:p14="http://schemas.microsoft.com/office/powerpoint/2010/main" val="320226874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F1A90A-0D01-E018-9EBD-09E267115F89}"/>
              </a:ext>
            </a:extLst>
          </p:cNvPr>
          <p:cNvPicPr>
            <a:picLocks noChangeAspect="1"/>
          </p:cNvPicPr>
          <p:nvPr/>
        </p:nvPicPr>
        <p:blipFill>
          <a:blip r:embed="rId3"/>
          <a:stretch>
            <a:fillRect/>
          </a:stretch>
        </p:blipFill>
        <p:spPr>
          <a:xfrm>
            <a:off x="1542414" y="294837"/>
            <a:ext cx="9107171" cy="6268325"/>
          </a:xfrm>
          <a:prstGeom prst="rect">
            <a:avLst/>
          </a:prstGeom>
        </p:spPr>
      </p:pic>
    </p:spTree>
    <p:extLst>
      <p:ext uri="{BB962C8B-B14F-4D97-AF65-F5344CB8AC3E}">
        <p14:creationId xmlns:p14="http://schemas.microsoft.com/office/powerpoint/2010/main" val="26874691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88F5A-E405-B1C3-38B4-843BC1609D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987DE7-251E-5D67-51ED-F84743CB0C41}"/>
              </a:ext>
            </a:extLst>
          </p:cNvPr>
          <p:cNvSpPr>
            <a:spLocks noGrp="1"/>
          </p:cNvSpPr>
          <p:nvPr>
            <p:ph type="title"/>
          </p:nvPr>
        </p:nvSpPr>
        <p:spPr>
          <a:xfrm>
            <a:off x="702734" y="164570"/>
            <a:ext cx="10828866" cy="1325563"/>
          </a:xfrm>
        </p:spPr>
        <p:txBody>
          <a:bodyPr>
            <a:normAutofit/>
          </a:bodyPr>
          <a:lstStyle/>
          <a:p>
            <a:r>
              <a:rPr lang="en-US" sz="4000" dirty="0"/>
              <a:t>Conclusion</a:t>
            </a:r>
          </a:p>
        </p:txBody>
      </p:sp>
      <p:sp>
        <p:nvSpPr>
          <p:cNvPr id="3" name="Content Placeholder 2">
            <a:extLst>
              <a:ext uri="{FF2B5EF4-FFF2-40B4-BE49-F238E27FC236}">
                <a16:creationId xmlns:a16="http://schemas.microsoft.com/office/drawing/2014/main" id="{5C303663-BF59-2FB9-45ED-D311660749E8}"/>
              </a:ext>
            </a:extLst>
          </p:cNvPr>
          <p:cNvSpPr>
            <a:spLocks noGrp="1"/>
          </p:cNvSpPr>
          <p:nvPr>
            <p:ph idx="1"/>
          </p:nvPr>
        </p:nvSpPr>
        <p:spPr>
          <a:xfrm>
            <a:off x="838200" y="1540933"/>
            <a:ext cx="10515600" cy="4686830"/>
          </a:xfrm>
        </p:spPr>
        <p:txBody>
          <a:bodyPr>
            <a:normAutofit lnSpcReduction="10000"/>
          </a:bodyPr>
          <a:lstStyle/>
          <a:p>
            <a:r>
              <a:rPr lang="en-US" dirty="0"/>
              <a:t>We found evidence of all three of our hypotheses:</a:t>
            </a:r>
          </a:p>
          <a:p>
            <a:pPr marL="914400" lvl="1" indent="-457200">
              <a:buFont typeface="+mj-lt"/>
              <a:buAutoNum type="arabicPeriod"/>
            </a:pPr>
            <a:r>
              <a:rPr lang="en-US" sz="2800" dirty="0"/>
              <a:t>Higher posting fees leads to higher quality posts but fewer posts</a:t>
            </a:r>
          </a:p>
          <a:p>
            <a:pPr marL="914400" lvl="1" indent="-457200">
              <a:buFont typeface="+mj-lt"/>
              <a:buAutoNum type="arabicPeriod"/>
            </a:pPr>
            <a:r>
              <a:rPr lang="en-US" sz="2800" dirty="0"/>
              <a:t>Tipping incentivizes users to learn what posts other users like and make those kinds of posts</a:t>
            </a:r>
          </a:p>
          <a:p>
            <a:pPr marL="914400" lvl="1" indent="-457200">
              <a:buFont typeface="+mj-lt"/>
              <a:buAutoNum type="arabicPeriod"/>
            </a:pPr>
            <a:r>
              <a:rPr lang="en-US" sz="2800" dirty="0"/>
              <a:t>Unprofitable users are more likely to leave the platform, profitable users are more likely to stay. (This should increase the quality of the userbase over time.)</a:t>
            </a:r>
          </a:p>
          <a:p>
            <a:pPr marL="914400" lvl="1" indent="-457200">
              <a:buFont typeface="+mj-lt"/>
              <a:buAutoNum type="arabicPeriod"/>
            </a:pPr>
            <a:endParaRPr lang="en-US" sz="2800" dirty="0"/>
          </a:p>
          <a:p>
            <a:r>
              <a:rPr lang="en-US" dirty="0"/>
              <a:t>Results suggest that financial micro-incentives can improve the quality of internet discourse. Suggests a positive use-case of Bitcoin and the Lightning Network</a:t>
            </a:r>
          </a:p>
        </p:txBody>
      </p:sp>
    </p:spTree>
    <p:extLst>
      <p:ext uri="{BB962C8B-B14F-4D97-AF65-F5344CB8AC3E}">
        <p14:creationId xmlns:p14="http://schemas.microsoft.com/office/powerpoint/2010/main" val="23853047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6950F-32BD-6303-CD6C-48124BA40998}"/>
              </a:ext>
            </a:extLst>
          </p:cNvPr>
          <p:cNvSpPr>
            <a:spLocks noGrp="1"/>
          </p:cNvSpPr>
          <p:nvPr>
            <p:ph type="ctrTitle"/>
          </p:nvPr>
        </p:nvSpPr>
        <p:spPr/>
        <p:txBody>
          <a:bodyPr/>
          <a:lstStyle/>
          <a:p>
            <a:pPr algn="l"/>
            <a:r>
              <a:rPr lang="en-US" dirty="0"/>
              <a:t>Thank you!</a:t>
            </a:r>
          </a:p>
        </p:txBody>
      </p:sp>
    </p:spTree>
    <p:extLst>
      <p:ext uri="{BB962C8B-B14F-4D97-AF65-F5344CB8AC3E}">
        <p14:creationId xmlns:p14="http://schemas.microsoft.com/office/powerpoint/2010/main" val="327728427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96</TotalTime>
  <Words>2265</Words>
  <Application>Microsoft Office PowerPoint</Application>
  <PresentationFormat>Widescreen</PresentationFormat>
  <Paragraphs>196</Paragraphs>
  <Slides>33</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Aptos</vt:lpstr>
      <vt:lpstr>Aptos Display</vt:lpstr>
      <vt:lpstr>Arial</vt:lpstr>
      <vt:lpstr>Cambria Math</vt:lpstr>
      <vt:lpstr>Wingdings</vt:lpstr>
      <vt:lpstr>Office Theme</vt:lpstr>
      <vt:lpstr>Financial micro-incentives and internet discourse: Evidence from a Bitcoin-based discussion platform</vt:lpstr>
      <vt:lpstr>Background &amp; Motivation</vt:lpstr>
      <vt:lpstr>Background &amp; Motivation</vt:lpstr>
      <vt:lpstr>Background &amp; Motivation</vt:lpstr>
      <vt:lpstr>Stacker News</vt:lpstr>
      <vt:lpstr>Stacker News: Territories</vt:lpstr>
      <vt:lpstr>Stacker News: Pay to Post</vt:lpstr>
      <vt:lpstr>Stacker News: Value for Value</vt:lpstr>
      <vt:lpstr>Stacker News: Incentives to Zap</vt:lpstr>
      <vt:lpstr>Stacker News: Incentives to Zap</vt:lpstr>
      <vt:lpstr>Stacker News: Market-based Content Moderation</vt:lpstr>
      <vt:lpstr>Hypotheses</vt:lpstr>
      <vt:lpstr>Data</vt:lpstr>
      <vt:lpstr>PowerPoint Presentation</vt:lpstr>
      <vt:lpstr>Pay-to-Post and Content Quality</vt:lpstr>
      <vt:lpstr>PowerPoint Presentation</vt:lpstr>
      <vt:lpstr>PowerPoint Presentation</vt:lpstr>
      <vt:lpstr>PowerPoint Presentation</vt:lpstr>
      <vt:lpstr>PowerPoint Presentation</vt:lpstr>
      <vt:lpstr>Pay-to-Post and Content Quantity</vt:lpstr>
      <vt:lpstr>PowerPoint Presentation</vt:lpstr>
      <vt:lpstr>Pay-to-Post and Content Quality/Quantity</vt:lpstr>
      <vt:lpstr>Value-for-value and Content Quality</vt:lpstr>
      <vt:lpstr>PowerPoint Presentation</vt:lpstr>
      <vt:lpstr>PowerPoint Presentation</vt:lpstr>
      <vt:lpstr>PowerPoint Presentation</vt:lpstr>
      <vt:lpstr>Do users learn from zaps?</vt:lpstr>
      <vt:lpstr>Value-for-value and Content Quality</vt:lpstr>
      <vt:lpstr>PowerPoint Presentation</vt:lpstr>
      <vt:lpstr>Profitability and User Retention</vt:lpstr>
      <vt:lpstr>PowerPoint Presentation</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Kung, Edward</dc:creator>
  <cp:lastModifiedBy>Kung, Edward</cp:lastModifiedBy>
  <cp:revision>64</cp:revision>
  <dcterms:created xsi:type="dcterms:W3CDTF">2026-02-17T23:36:35Z</dcterms:created>
  <dcterms:modified xsi:type="dcterms:W3CDTF">2026-02-18T01:21:02Z</dcterms:modified>
</cp:coreProperties>
</file>